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6a3211407c4fe6" /><Relationship Type="http://schemas.openxmlformats.org/officeDocument/2006/relationships/extended-properties" Target="/docProps/app.xml" Id="R23703db82c5c4932" /><Relationship Type="http://schemas.openxmlformats.org/officeDocument/2006/relationships/officeDocument" Target="/ppt/presentation.xml" Id="Rab0cf9d31b8f46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d2380109fd46a4"/>
  </p:sldMasterIdLst>
  <p:notesMasterIdLst>
    <p:notesMasterId xmlns:r="http://schemas.openxmlformats.org/officeDocument/2006/relationships" r:id="R3ee6be6e471e4205"/>
  </p:notesMasterIdLst>
  <p:sldIdLst>
    <p:sldId xmlns:r="http://schemas.openxmlformats.org/officeDocument/2006/relationships" id="256" r:id="R57d4953386b14789"/>
    <p:sldId xmlns:r="http://schemas.openxmlformats.org/officeDocument/2006/relationships" id="257" r:id="R8edd48e5dc4f4177"/>
    <p:sldId xmlns:r="http://schemas.openxmlformats.org/officeDocument/2006/relationships" id="258" r:id="R2ab5d84b462e40ac"/>
    <p:sldId xmlns:r="http://schemas.openxmlformats.org/officeDocument/2006/relationships" id="259" r:id="R28b3460bb5ec4653"/>
    <p:sldId xmlns:r="http://schemas.openxmlformats.org/officeDocument/2006/relationships" id="260" r:id="R690f9aeb6def4017"/>
    <p:sldId xmlns:r="http://schemas.openxmlformats.org/officeDocument/2006/relationships" id="261" r:id="R8fa16732cdd04ffb"/>
    <p:sldId xmlns:r="http://schemas.openxmlformats.org/officeDocument/2006/relationships" id="262" r:id="R026439e647f942dc"/>
    <p:sldId xmlns:r="http://schemas.openxmlformats.org/officeDocument/2006/relationships" id="263" r:id="R563333f4e1a64bb5"/>
    <p:sldId xmlns:r="http://schemas.openxmlformats.org/officeDocument/2006/relationships" id="264" r:id="Rb8b653fa7ec04bed"/>
    <p:sldId xmlns:r="http://schemas.openxmlformats.org/officeDocument/2006/relationships" id="265" r:id="Ra8e7517a1a4448a3"/>
    <p:sldId xmlns:r="http://schemas.openxmlformats.org/officeDocument/2006/relationships" id="266" r:id="R9a0f25fee7254e9d"/>
    <p:sldId xmlns:r="http://schemas.openxmlformats.org/officeDocument/2006/relationships" id="267" r:id="R0e6ce0c2b2004c10"/>
    <p:sldId xmlns:r="http://schemas.openxmlformats.org/officeDocument/2006/relationships" id="268" r:id="Rfd5f8dd5da82462b"/>
    <p:sldId xmlns:r="http://schemas.openxmlformats.org/officeDocument/2006/relationships" id="269" r:id="R85e485e34c8e4759"/>
    <p:sldId xmlns:r="http://schemas.openxmlformats.org/officeDocument/2006/relationships" id="270" r:id="Rbb36b2b0d9a54844"/>
    <p:sldId xmlns:r="http://schemas.openxmlformats.org/officeDocument/2006/relationships" id="271" r:id="R59c0ad5816d246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2f70d4706948b4" /><Relationship Type="http://schemas.openxmlformats.org/officeDocument/2006/relationships/slideMaster" Target="/ppt/slideMasters/slideMaster1.xml" Id="R54d2380109fd46a4" /><Relationship Type="http://schemas.openxmlformats.org/officeDocument/2006/relationships/notesMaster" Target="/ppt/notesMasters/notesMaster1.xml" Id="R3ee6be6e471e4205" /><Relationship Type="http://schemas.openxmlformats.org/officeDocument/2006/relationships/presProps" Target="/ppt/presProps.xml" Id="Ra8d1f92ff64a4e8f" /><Relationship Type="http://schemas.openxmlformats.org/officeDocument/2006/relationships/tableStyles" Target="/ppt/tableStyles.xml" Id="Re836c52ba03d440a" /><Relationship Type="http://schemas.openxmlformats.org/officeDocument/2006/relationships/slide" Target="/ppt/slides/slide1.xml" Id="R57d4953386b14789" /><Relationship Type="http://schemas.openxmlformats.org/officeDocument/2006/relationships/slide" Target="/ppt/slides/slide2.xml" Id="R8edd48e5dc4f4177" /><Relationship Type="http://schemas.openxmlformats.org/officeDocument/2006/relationships/slide" Target="/ppt/slides/slide3.xml" Id="R2ab5d84b462e40ac" /><Relationship Type="http://schemas.openxmlformats.org/officeDocument/2006/relationships/slide" Target="/ppt/slides/slide4.xml" Id="R28b3460bb5ec4653" /><Relationship Type="http://schemas.openxmlformats.org/officeDocument/2006/relationships/slide" Target="/ppt/slides/slide5.xml" Id="R690f9aeb6def4017" /><Relationship Type="http://schemas.openxmlformats.org/officeDocument/2006/relationships/slide" Target="/ppt/slides/slide6.xml" Id="R8fa16732cdd04ffb" /><Relationship Type="http://schemas.openxmlformats.org/officeDocument/2006/relationships/slide" Target="/ppt/slides/slide7.xml" Id="R026439e647f942dc" /><Relationship Type="http://schemas.openxmlformats.org/officeDocument/2006/relationships/slide" Target="/ppt/slides/slide8.xml" Id="R563333f4e1a64bb5" /><Relationship Type="http://schemas.openxmlformats.org/officeDocument/2006/relationships/slide" Target="/ppt/slides/slide9.xml" Id="Rb8b653fa7ec04bed" /><Relationship Type="http://schemas.openxmlformats.org/officeDocument/2006/relationships/slide" Target="/ppt/slides/slide10.xml" Id="Ra8e7517a1a4448a3" /><Relationship Type="http://schemas.openxmlformats.org/officeDocument/2006/relationships/slide" Target="/ppt/slides/slide11.xml" Id="R9a0f25fee7254e9d" /><Relationship Type="http://schemas.openxmlformats.org/officeDocument/2006/relationships/slide" Target="/ppt/slides/slide12.xml" Id="R0e6ce0c2b2004c10" /><Relationship Type="http://schemas.openxmlformats.org/officeDocument/2006/relationships/slide" Target="/ppt/slides/slide13.xml" Id="Rfd5f8dd5da82462b" /><Relationship Type="http://schemas.openxmlformats.org/officeDocument/2006/relationships/slide" Target="/ppt/slides/slide14.xml" Id="R85e485e34c8e4759" /><Relationship Type="http://schemas.openxmlformats.org/officeDocument/2006/relationships/slide" Target="/ppt/slides/slide15.xml" Id="Rbb36b2b0d9a54844" /><Relationship Type="http://schemas.openxmlformats.org/officeDocument/2006/relationships/slide" Target="/ppt/slides/slide16.xml" Id="R59c0ad5816d246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0bca12dd6a4c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af57a01c2146bd" /><Relationship Type="http://schemas.openxmlformats.org/officeDocument/2006/relationships/notesMaster" Target="/ppt/notesMasters/notesMaster1.xml" Id="R806a5f34c32445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e457cea1cb4135" /><Relationship Type="http://schemas.openxmlformats.org/officeDocument/2006/relationships/notesMaster" Target="/ppt/notesMasters/notesMaster1.xml" Id="R4724dc8e2a1d42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36199d1b534962" /><Relationship Type="http://schemas.openxmlformats.org/officeDocument/2006/relationships/notesMaster" Target="/ppt/notesMasters/notesMaster1.xml" Id="R2bdc51e60bea45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096aee86ff4dbd" /><Relationship Type="http://schemas.openxmlformats.org/officeDocument/2006/relationships/notesMaster" Target="/ppt/notesMasters/notesMaster1.xml" Id="R7e1ccdbe29f341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58391b3e8946ab" /><Relationship Type="http://schemas.openxmlformats.org/officeDocument/2006/relationships/notesMaster" Target="/ppt/notesMasters/notesMaster1.xml" Id="Rd66f66298faa49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c8f565d64d4601" /><Relationship Type="http://schemas.openxmlformats.org/officeDocument/2006/relationships/notesMaster" Target="/ppt/notesMasters/notesMaster1.xml" Id="R6e03dec1fdf243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33bc81b8f441ea" /><Relationship Type="http://schemas.openxmlformats.org/officeDocument/2006/relationships/notesMaster" Target="/ppt/notesMasters/notesMaster1.xml" Id="R9834663b845743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372891829e4684" /><Relationship Type="http://schemas.openxmlformats.org/officeDocument/2006/relationships/notesMaster" Target="/ppt/notesMasters/notesMaster1.xml" Id="R6c4db64b68ff46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7ec46a8462488d" /><Relationship Type="http://schemas.openxmlformats.org/officeDocument/2006/relationships/notesMaster" Target="/ppt/notesMasters/notesMaster1.xml" Id="R56478ea9a2294b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ae7da0895b43e7" /><Relationship Type="http://schemas.openxmlformats.org/officeDocument/2006/relationships/notesMaster" Target="/ppt/notesMasters/notesMaster1.xml" Id="Rc02b000b88604f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f2ae5860d34777" /><Relationship Type="http://schemas.openxmlformats.org/officeDocument/2006/relationships/notesMaster" Target="/ppt/notesMasters/notesMaster1.xml" Id="R02060d90680e4d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f772f212184e8f" /><Relationship Type="http://schemas.openxmlformats.org/officeDocument/2006/relationships/notesMaster" Target="/ppt/notesMasters/notesMaster1.xml" Id="R5e9fa06ae3c140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04734902ac4380" /><Relationship Type="http://schemas.openxmlformats.org/officeDocument/2006/relationships/notesMaster" Target="/ppt/notesMasters/notesMaster1.xml" Id="Rf9930b5c3def48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f50d90b7ca435e" /><Relationship Type="http://schemas.openxmlformats.org/officeDocument/2006/relationships/notesMaster" Target="/ppt/notesMasters/notesMaster1.xml" Id="R78348ef4590541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42a66bf3914695" /><Relationship Type="http://schemas.openxmlformats.org/officeDocument/2006/relationships/notesMaster" Target="/ppt/notesMasters/notesMaster1.xml" Id="R54cf0ec955a74a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9dc28d88634360" /><Relationship Type="http://schemas.openxmlformats.org/officeDocument/2006/relationships/notesMaster" Target="/ppt/notesMasters/notesMaster1.xml" Id="Rf9722b97069e4a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Axion corporate identity specification: docs/brand/AXION-CI.md</a:t>
            </a:r>
          </a:p>
          <a:p xmlns:a="http://schemas.openxmlformats.org/drawingml/2006/main">
            <a:r>
              <a:t>- Axion primary logo assets: public/brand-assets/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Axion brand idea and interface rules: docs/brand/AXION-CI.md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logo variants: public/brand-assets/</a:t>
            </a:r>
          </a:p>
          <a:p xmlns:a="http://schemas.openxmlformats.org/drawingml/2006/main">
            <a:r>
              <a:t>- Logo usage rules: docs/brand/AXION-CI.md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Logo sizing, clear-space and modification rules: docs/brand/AXION-CI.md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Axion color roles and hex values: docs/brand/AXION-CI.md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Typography families and usage: docs/brand/AXION-CI.md</a:t>
            </a:r>
          </a:p>
          <a:p xmlns:a="http://schemas.openxmlformats.org/drawingml/2006/main">
            <a:r>
              <a:t>- Axion font files: assets/fonts/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Axion interface rules: docs/brand/AXION-CI.md</a:t>
            </a:r>
          </a:p>
          <a:p xmlns:a="http://schemas.openxmlformats.org/drawingml/2006/main">
            <a:r>
              <a:t>- Axion product workspace image: assets/product/axion-flowsheet-workspace.png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Brand and engineering-color separation: docs/brand/AXION-CI.md</a:t>
            </a:r>
          </a:p>
          <a:p xmlns:a="http://schemas.openxmlformats.org/drawingml/2006/main">
            <a:r>
              <a:t>- Example process notation is illustrative and contains no external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Axion product overview image: assets/product/axion-plant-overview.png</a:t>
            </a:r>
          </a:p>
          <a:p xmlns:a="http://schemas.openxmlformats.org/drawingml/2006/main">
            <a:r>
              <a:t>- Logo and typography rules: docs/brand/AXION-CI.md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Axion asset library: public/brand-assets/</a:t>
            </a:r>
          </a:p>
          <a:p xmlns:a="http://schemas.openxmlformats.org/drawingml/2006/main">
            <a:r>
              <a:t>- Live brand portal: https://ax-i-on.com/brand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Axion brand voice extension derived from docs/brand/AXION-CI.md</a:t>
            </a:r>
          </a:p>
          <a:p xmlns:a="http://schemas.openxmlformats.org/drawingml/2006/main">
            <a:r>
              <a:t>- Example copy is an Axion-authored usage illustration.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Vaccine bioreactor plant: Wikimedia Commons, CC BY-SA 4.0; attribution in assets/photography/ATTRIBUTION.md</a:t>
            </a:r>
          </a:p>
          <a:p xmlns:a="http://schemas.openxmlformats.org/drawingml/2006/main">
            <a:r>
              <a:t>- Industrial fermenters: Wikimedia Commons, CC BY-SA 3.0; attribution in assets/photography/ATTRIBUTION.md</a:t>
            </a:r>
          </a:p>
          <a:p xmlns:a="http://schemas.openxmlformats.org/drawingml/2006/main">
            <a:r>
              <a:t>- Weihenstephan Kombikeller: Wikimedia Commons, CC BY-SA 4.0; attribution in assets/photography/ATTRIBUTION.md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Motion guidance is an Axion-authored extension of the interface rules in docs/brand/AXION-CI.md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Axion contrast pairs verified by scripts/check-contrast.mjs</a:t>
            </a:r>
          </a:p>
          <a:p xmlns:a="http://schemas.openxmlformats.org/drawingml/2006/main">
            <a:r>
              <a:t>- Accessibility guidance extends docs/brand/AXION-CI.md interface rules.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Co-branding and template rules are Axion-authored extensions of docs/brand/AXION-CI.md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Axion asset library: public/brand-assets/</a:t>
            </a:r>
          </a:p>
          <a:p xmlns:a="http://schemas.openxmlformats.org/drawingml/2006/main">
            <a:r>
              <a:t>- Live brand portal: https://ax-i-on.com/brand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5166052634a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76996a0c3e48ab" /><Relationship Type="http://schemas.openxmlformats.org/officeDocument/2006/relationships/slideLayout" Target="/ppt/slideLayouts/slideLayout1.xml" Id="R2b9774ceb717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9774ceb717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da37ea31340a7" /><Relationship Type="http://schemas.openxmlformats.org/officeDocument/2006/relationships/image" Target="/ppt/media/image.png" Id="Reb07496d9875463e" /><Relationship Type="http://schemas.openxmlformats.org/officeDocument/2006/relationships/image" Target="/ppt/media/image2.png" Id="Rb8b0c77687904af9" /><Relationship Type="http://schemas.openxmlformats.org/officeDocument/2006/relationships/notesSlide" Target="/ppt/notesSlides/notesSlide1.xml" Id="Rf2c3afb66ae745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3b0cc74f241aa" /><Relationship Type="http://schemas.openxmlformats.org/officeDocument/2006/relationships/notesSlide" Target="/ppt/notesSlides/notesSlide2.xml" Id="Rd787fbbed0cd4c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6a1db10d74b5b" /><Relationship Type="http://schemas.openxmlformats.org/officeDocument/2006/relationships/image" Target="/ppt/media/image3.png" Id="R205b37c2f78c4853" /><Relationship Type="http://schemas.openxmlformats.org/officeDocument/2006/relationships/image" Target="/ppt/media/image4.png" Id="R5138deedc8d24faa" /><Relationship Type="http://schemas.openxmlformats.org/officeDocument/2006/relationships/image" Target="/ppt/media/image5.png" Id="R73e4af308c8b4af2" /><Relationship Type="http://schemas.openxmlformats.org/officeDocument/2006/relationships/image" Target="/ppt/media/image6.png" Id="R852c6d37173640d5" /><Relationship Type="http://schemas.openxmlformats.org/officeDocument/2006/relationships/image" Target="/ppt/media/image7.png" Id="Rbb717255dd7b49f2" /><Relationship Type="http://schemas.openxmlformats.org/officeDocument/2006/relationships/image" Target="/ppt/media/image8.png" Id="Raec14202fb2544ac" /><Relationship Type="http://schemas.openxmlformats.org/officeDocument/2006/relationships/notesSlide" Target="/ppt/notesSlides/notesSlide3.xml" Id="Rcb9915515ebe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c3b0888844b6c" /><Relationship Type="http://schemas.openxmlformats.org/officeDocument/2006/relationships/image" Target="/ppt/media/image9.png" Id="Rfd0fbacdc5074a00" /><Relationship Type="http://schemas.openxmlformats.org/officeDocument/2006/relationships/notesSlide" Target="/ppt/notesSlides/notesSlide4.xml" Id="R556c4b58662748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55e89cc234108" /><Relationship Type="http://schemas.openxmlformats.org/officeDocument/2006/relationships/notesSlide" Target="/ppt/notesSlides/notesSlide5.xml" Id="R41b5c3daaea14b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49b38d2524a24" /><Relationship Type="http://schemas.openxmlformats.org/officeDocument/2006/relationships/notesSlide" Target="/ppt/notesSlides/notesSlide6.xml" Id="R7dfcba36869f4f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318d9ace1487f" /><Relationship Type="http://schemas.openxmlformats.org/officeDocument/2006/relationships/image" Target="/ppt/media/image.jpeg" Id="R4cebb97bd806448e" /><Relationship Type="http://schemas.openxmlformats.org/officeDocument/2006/relationships/notesSlide" Target="/ppt/notesSlides/notesSlide7.xml" Id="R158e8b89bf6842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6f9fa8d8343fc" /><Relationship Type="http://schemas.openxmlformats.org/officeDocument/2006/relationships/notesSlide" Target="/ppt/notesSlides/notesSlide8.xml" Id="R069e9f11a48042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29f8a6c63449f" /><Relationship Type="http://schemas.openxmlformats.org/officeDocument/2006/relationships/image" Target="/ppt/media/image2.jpeg" Id="R3f662c181def436e" /><Relationship Type="http://schemas.openxmlformats.org/officeDocument/2006/relationships/image" Target="/ppt/media/image10.png" Id="R7a82451506c7430d" /><Relationship Type="http://schemas.openxmlformats.org/officeDocument/2006/relationships/notesSlide" Target="/ppt/notesSlides/notesSlide9.xml" Id="R1d58380fb15142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6c511df374591" /><Relationship Type="http://schemas.openxmlformats.org/officeDocument/2006/relationships/image" Target="/ppt/media/image11.png" Id="R3f4e92b224d948de" /><Relationship Type="http://schemas.openxmlformats.org/officeDocument/2006/relationships/notesSlide" Target="/ppt/notesSlides/notesSlide10.xml" Id="R2056994ad4594e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34eb17dc743ab" /><Relationship Type="http://schemas.openxmlformats.org/officeDocument/2006/relationships/notesSlide" Target="/ppt/notesSlides/notesSlide11.xml" Id="R1e3a7004c21044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9a02ecfeb46ee" /><Relationship Type="http://schemas.openxmlformats.org/officeDocument/2006/relationships/image" Target="/ppt/media/image3.jpeg" Id="R3147cb3b45954803" /><Relationship Type="http://schemas.openxmlformats.org/officeDocument/2006/relationships/image" Target="/ppt/media/image4.jpeg" Id="R3f326379ebb5487a" /><Relationship Type="http://schemas.openxmlformats.org/officeDocument/2006/relationships/image" Target="/ppt/media/image5.jpeg" Id="R62882407d10f4ae0" /><Relationship Type="http://schemas.openxmlformats.org/officeDocument/2006/relationships/notesSlide" Target="/ppt/notesSlides/notesSlide12.xml" Id="R54037043d90e4e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3fff9b6934869" /><Relationship Type="http://schemas.openxmlformats.org/officeDocument/2006/relationships/notesSlide" Target="/ppt/notesSlides/notesSlide13.xml" Id="Re4f0605d2ad641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1578b8c3a441c" /><Relationship Type="http://schemas.openxmlformats.org/officeDocument/2006/relationships/notesSlide" Target="/ppt/notesSlides/notesSlide14.xml" Id="Rcd2216c15c674c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68a9ae26d46e7" /><Relationship Type="http://schemas.openxmlformats.org/officeDocument/2006/relationships/image" Target="/ppt/media/image12.png" Id="R78510810eef645b0" /><Relationship Type="http://schemas.openxmlformats.org/officeDocument/2006/relationships/notesSlide" Target="/ppt/notesSlides/notesSlide15.xml" Id="R15b54226d6404c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fdfd2486a4162" /><Relationship Type="http://schemas.openxmlformats.org/officeDocument/2006/relationships/image" Target="/ppt/media/image13.png" Id="R5649399113fd41b6" /><Relationship Type="http://schemas.openxmlformats.org/officeDocument/2006/relationships/notesSlide" Target="/ppt/notesSlides/notesSlide16.xml" Id="R75472ce8557046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blue-rail">
            <a:extLst xmlns:a="http://schemas.openxmlformats.org/drawingml/2006/main">
              <a:ext uri="{FF2B5EF4-FFF2-40B4-BE49-F238E27FC236}">
                <a16:creationId xmlns:a16="http://schemas.microsoft.com/office/drawing/2014/main" id="{47025762-3382-4940-AA27-3B2B347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amber-rail">
            <a:extLst xmlns:a="http://schemas.openxmlformats.org/drawingml/2006/main">
              <a:ext uri="{FF2B5EF4-FFF2-40B4-BE49-F238E27FC236}">
                <a16:creationId xmlns:a16="http://schemas.microsoft.com/office/drawing/2014/main" id="{F7F8A4B3-586A-434A-8CB6-401480B5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7496d9875463e"/>
          <a:stretch xmlns:a="http://schemas.openxmlformats.org/drawingml/2006/main"/>
        </p:blipFill>
        <p:spPr>
          <a:xfrm xmlns:a="http://schemas.openxmlformats.org/drawingml/2006/main">
            <a:off x="742950" y="74295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ECB55241-45A5-4A55-B550-5DB6AF5B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8C9D4"/>
                </a:solidFill>
              </a:defRPr>
            </a:pPr>
            <a:r>
              <a:rPr sz="1500" b="1" i="0">
                <a:solidFill>
                  <a:srgbClr val="B8C9D4"/>
                </a:solidFill>
              </a:rPr>
              <a:t>AXION PROCESS OS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F56AAAF-FEDC-4D06-96AC-B1121B9E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FFFFFF"/>
                </a:solidFill>
              </a:defRPr>
            </a:pPr>
            <a:r>
              <a:rPr sz="5400" b="1" i="0">
                <a:solidFill>
                  <a:srgbClr val="FFFFFF"/>
                </a:solidFill>
              </a:rPr>
              <a:t>Corporate</a:t>
            </a:r>
          </a:p>
          <a:p xmlns:a="http://schemas.openxmlformats.org/drawingml/2006/main">
            <a:pPr algn="l">
              <a:buNone/>
              <a:defRPr sz="5400" b="1" i="0">
                <a:solidFill>
                  <a:srgbClr val="FFFFFF"/>
                </a:solidFill>
              </a:defRPr>
            </a:pPr>
            <a:r>
              <a:rPr sz="5400" b="1" i="0">
                <a:solidFill>
                  <a:srgbClr val="FFFFFF"/>
                </a:solidFill>
              </a:rPr>
              <a:t>Identity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98E24C5-4723-41AE-A0AF-B4EE0D4D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D6E0E6"/>
                </a:solidFill>
              </a:defRPr>
            </a:pPr>
            <a:r>
              <a:rPr sz="1800" b="0" i="0">
                <a:solidFill>
                  <a:srgbClr val="D6E0E6"/>
                </a:solidFill>
              </a:rPr>
              <a:t>A precise visual system for industrial bioprocess engineering.</a:t>
            </a:r>
          </a:p>
        </p:txBody>
      </p:sp>
      <p:sp>
        <p:nvSpPr>
          <p:cNvPr id="7" name="cover-mark-field">
            <a:extLst xmlns:a="http://schemas.openxmlformats.org/drawingml/2006/main">
              <a:ext uri="{FF2B5EF4-FFF2-40B4-BE49-F238E27FC236}">
                <a16:creationId xmlns:a16="http://schemas.microsoft.com/office/drawing/2014/main" id="{BFD66633-5303-411A-B8C7-2595D085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819150"/>
            <a:ext cx="28384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0c77687904af9"/>
          <a:stretch xmlns:a="http://schemas.openxmlformats.org/drawingml/2006/main"/>
        </p:blipFill>
        <p:spPr>
          <a:xfrm xmlns:a="http://schemas.openxmlformats.org/drawingml/2006/main">
            <a:off x="8667750" y="1314450"/>
            <a:ext cx="1847850" cy="1847850"/>
          </a:xfrm>
          <a:prstGeom xmlns:a="http://schemas.openxmlformats.org/drawingml/2006/main" prst="rect">
            <a:avLst/>
          </a:prstGeom>
        </p:spPr>
      </p:pic>
      <p:sp>
        <p:nvSpPr>
          <p:cNvPr id="9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88D71C87-235A-479C-9BBF-2B565281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AFC1CF"/>
                </a:solidFill>
              </a:defRPr>
            </a:pPr>
            <a:r>
              <a:rPr sz="1050" b="0" i="0">
                <a:solidFill>
                  <a:srgbClr val="AFC1CF"/>
                </a:solidFill>
              </a:rPr>
              <a:t>VERSION 1.0 / AUGUST 2026</a:t>
            </a:r>
          </a:p>
        </p:txBody>
      </p:sp>
      <p:sp>
        <p:nvSpPr>
          <p:cNvPr id="10" name="rule-860-474">
            <a:extLst xmlns:a="http://schemas.openxmlformats.org/drawingml/2006/main">
              <a:ext uri="{FF2B5EF4-FFF2-40B4-BE49-F238E27FC236}">
                <a16:creationId xmlns:a16="http://schemas.microsoft.com/office/drawing/2014/main" id="{8145BB33-EB85-475A-A048-B9AB95AF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use">
            <a:extLst xmlns:a="http://schemas.openxmlformats.org/drawingml/2006/main">
              <a:ext uri="{FF2B5EF4-FFF2-40B4-BE49-F238E27FC236}">
                <a16:creationId xmlns:a16="http://schemas.microsoft.com/office/drawing/2014/main" id="{2B9B232C-8DCA-4485-A5B5-1AA0851A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244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DESIGNED FOR SOFTWARE · REPORTS · ENGINEERING MODELS</a:t>
            </a:r>
          </a:p>
        </p:txBody>
      </p:sp>
    </p:spTree>
    <p:extLst>
      <p:ext uri="{BB962C8B-B14F-4D97-AF65-F5344CB8AC3E}">
        <p14:creationId xmlns:p14="http://schemas.microsoft.com/office/powerpoint/2010/main" val="1562675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2">
            <a:extLst xmlns:a="http://schemas.openxmlformats.org/drawingml/2006/main">
              <a:ext uri="{FF2B5EF4-FFF2-40B4-BE49-F238E27FC236}">
                <a16:creationId xmlns:a16="http://schemas.microsoft.com/office/drawing/2014/main" id="{FFC4D057-E3C3-47E3-B397-3B2EE31C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65E5C5E3-E481-4B92-AF1D-8B33B979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04612997-4092-4AD4-A14B-4DF69D4E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One system makes complexity legible.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A90B7AE1-8CF2-4885-AD79-96E9E638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The identity translates rigorous engineering into a calm, confident visual language.</a:t>
            </a:r>
          </a:p>
        </p:txBody>
      </p:sp>
      <p:sp>
        <p:nvSpPr>
          <p:cNvPr id="5" name="idea-num-01">
            <a:extLst xmlns:a="http://schemas.openxmlformats.org/drawingml/2006/main">
              <a:ext uri="{FF2B5EF4-FFF2-40B4-BE49-F238E27FC236}">
                <a16:creationId xmlns:a16="http://schemas.microsoft.com/office/drawing/2014/main" id="{DE1120F7-4EB0-46AE-A0BD-63EB56EC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F63F5"/>
                </a:solidFill>
              </a:defRPr>
            </a:pPr>
            <a:r>
              <a:rPr sz="1350" b="1" i="0">
                <a:solidFill>
                  <a:srgbClr val="2F63F5"/>
                </a:solidFill>
              </a:rPr>
              <a:t>01</a:t>
            </a:r>
          </a:p>
        </p:txBody>
      </p:sp>
      <p:sp>
        <p:nvSpPr>
          <p:cNvPr id="6" name="rule-64-292">
            <a:extLst xmlns:a="http://schemas.openxmlformats.org/drawingml/2006/main">
              <a:ext uri="{FF2B5EF4-FFF2-40B4-BE49-F238E27FC236}">
                <a16:creationId xmlns:a16="http://schemas.microsoft.com/office/drawing/2014/main" id="{FF25C3C5-C900-4143-AE2B-705EB5B5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162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dea-head-01">
            <a:extLst xmlns:a="http://schemas.openxmlformats.org/drawingml/2006/main">
              <a:ext uri="{FF2B5EF4-FFF2-40B4-BE49-F238E27FC236}">
                <a16:creationId xmlns:a16="http://schemas.microsoft.com/office/drawing/2014/main" id="{568B6E1C-F269-4682-A442-DE1DF271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081F33"/>
                </a:solidFill>
              </a:defRPr>
            </a:pPr>
            <a:r>
              <a:rPr sz="2550" b="1" i="0">
                <a:solidFill>
                  <a:srgbClr val="081F33"/>
                </a:solidFill>
              </a:rPr>
              <a:t>Precise</a:t>
            </a:r>
          </a:p>
        </p:txBody>
      </p:sp>
      <p:sp>
        <p:nvSpPr>
          <p:cNvPr id="8" name="idea-body-01">
            <a:extLst xmlns:a="http://schemas.openxmlformats.org/drawingml/2006/main">
              <a:ext uri="{FF2B5EF4-FFF2-40B4-BE49-F238E27FC236}">
                <a16:creationId xmlns:a16="http://schemas.microsoft.com/office/drawing/2014/main" id="{91073A1F-4950-48C1-9EE2-8588E96D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D6D77"/>
                </a:solidFill>
              </a:defRPr>
            </a:pPr>
            <a:r>
              <a:rPr sz="1425" b="0" i="0">
                <a:solidFill>
                  <a:srgbClr val="5D6D77"/>
                </a:solidFill>
              </a:rPr>
              <a:t>Pixel geometry signals measurable systems, model structure and technical exactness.</a:t>
            </a:r>
          </a:p>
        </p:txBody>
      </p:sp>
      <p:sp>
        <p:nvSpPr>
          <p:cNvPr id="9" name="idea-num-02">
            <a:extLst xmlns:a="http://schemas.openxmlformats.org/drawingml/2006/main">
              <a:ext uri="{FF2B5EF4-FFF2-40B4-BE49-F238E27FC236}">
                <a16:creationId xmlns:a16="http://schemas.microsoft.com/office/drawing/2014/main" id="{EAE0C995-6781-4A70-8383-1F60ED0B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A8F83"/>
                </a:solidFill>
              </a:defRPr>
            </a:pPr>
            <a:r>
              <a:rPr sz="1350" b="1" i="0">
                <a:solidFill>
                  <a:srgbClr val="2A8F83"/>
                </a:solidFill>
              </a:rPr>
              <a:t>02</a:t>
            </a:r>
          </a:p>
        </p:txBody>
      </p:sp>
      <p:sp>
        <p:nvSpPr>
          <p:cNvPr id="10" name="rule-464-292">
            <a:extLst xmlns:a="http://schemas.openxmlformats.org/drawingml/2006/main">
              <a:ext uri="{FF2B5EF4-FFF2-40B4-BE49-F238E27FC236}">
                <a16:creationId xmlns:a16="http://schemas.microsoft.com/office/drawing/2014/main" id="{0B4BA075-9A41-4BD0-A396-7ADB2A0E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162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dea-head-02">
            <a:extLst xmlns:a="http://schemas.openxmlformats.org/drawingml/2006/main">
              <a:ext uri="{FF2B5EF4-FFF2-40B4-BE49-F238E27FC236}">
                <a16:creationId xmlns:a16="http://schemas.microsoft.com/office/drawing/2014/main" id="{9E59E0D5-FB61-49E9-8D84-070AC2C7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081F33"/>
                </a:solidFill>
              </a:defRPr>
            </a:pPr>
            <a:r>
              <a:rPr sz="2550" b="1" i="0">
                <a:solidFill>
                  <a:srgbClr val="081F33"/>
                </a:solidFill>
              </a:rPr>
              <a:t>Industrial</a:t>
            </a:r>
          </a:p>
        </p:txBody>
      </p:sp>
      <p:sp>
        <p:nvSpPr>
          <p:cNvPr id="12" name="idea-body-02">
            <a:extLst xmlns:a="http://schemas.openxmlformats.org/drawingml/2006/main">
              <a:ext uri="{FF2B5EF4-FFF2-40B4-BE49-F238E27FC236}">
                <a16:creationId xmlns:a16="http://schemas.microsoft.com/office/drawing/2014/main" id="{A0A35098-C835-4442-98AD-C9A8C091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671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D6D77"/>
                </a:solidFill>
              </a:defRPr>
            </a:pPr>
            <a:r>
              <a:rPr sz="1425" b="0" i="0">
                <a:solidFill>
                  <a:srgbClr val="5D6D77"/>
                </a:solidFill>
              </a:rPr>
              <a:t>Deep navy and restrained accents feel credible in plants, laboratories and boardrooms.</a:t>
            </a:r>
          </a:p>
        </p:txBody>
      </p:sp>
      <p:sp>
        <p:nvSpPr>
          <p:cNvPr id="13" name="idea-num-03">
            <a:extLst xmlns:a="http://schemas.openxmlformats.org/drawingml/2006/main">
              <a:ext uri="{FF2B5EF4-FFF2-40B4-BE49-F238E27FC236}">
                <a16:creationId xmlns:a16="http://schemas.microsoft.com/office/drawing/2014/main" id="{ED2B0999-8108-4835-A246-030060D9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4B942"/>
                </a:solidFill>
              </a:defRPr>
            </a:pPr>
            <a:r>
              <a:rPr sz="1350" b="1" i="0">
                <a:solidFill>
                  <a:srgbClr val="F4B942"/>
                </a:solidFill>
              </a:rPr>
              <a:t>03</a:t>
            </a:r>
          </a:p>
        </p:txBody>
      </p:sp>
      <p:sp>
        <p:nvSpPr>
          <p:cNvPr id="14" name="rule-864-292">
            <a:extLst xmlns:a="http://schemas.openxmlformats.org/drawingml/2006/main">
              <a:ext uri="{FF2B5EF4-FFF2-40B4-BE49-F238E27FC236}">
                <a16:creationId xmlns:a16="http://schemas.microsoft.com/office/drawing/2014/main" id="{8378C826-731B-437B-9C37-5F4675E5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162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dea-head-03">
            <a:extLst xmlns:a="http://schemas.openxmlformats.org/drawingml/2006/main">
              <a:ext uri="{FF2B5EF4-FFF2-40B4-BE49-F238E27FC236}">
                <a16:creationId xmlns:a16="http://schemas.microsoft.com/office/drawing/2014/main" id="{08A91A6F-387F-4495-96E5-D5D06293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081F33"/>
                </a:solidFill>
              </a:defRPr>
            </a:pPr>
            <a:r>
              <a:rPr sz="2550" b="1" i="0">
                <a:solidFill>
                  <a:srgbClr val="081F33"/>
                </a:solidFill>
              </a:rPr>
              <a:t>Legible</a:t>
            </a:r>
          </a:p>
        </p:txBody>
      </p:sp>
      <p:sp>
        <p:nvSpPr>
          <p:cNvPr id="16" name="idea-body-03">
            <a:extLst xmlns:a="http://schemas.openxmlformats.org/drawingml/2006/main">
              <a:ext uri="{FF2B5EF4-FFF2-40B4-BE49-F238E27FC236}">
                <a16:creationId xmlns:a16="http://schemas.microsoft.com/office/drawing/2014/main" id="{87880CDB-EE85-4B64-A4B6-CF43C022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671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D6D77"/>
                </a:solidFill>
              </a:defRPr>
            </a:pPr>
            <a:r>
              <a:rPr sz="1425" b="0" i="0">
                <a:solidFill>
                  <a:srgbClr val="5D6D77"/>
                </a:solidFill>
              </a:rPr>
              <a:t>Strong hierarchy and generous spacing keep complex process information readable.</a:t>
            </a:r>
          </a:p>
        </p:txBody>
      </p:sp>
      <p:sp>
        <p:nvSpPr>
          <p:cNvPr id="17" name="idea-statement">
            <a:extLst xmlns:a="http://schemas.openxmlformats.org/drawingml/2006/main">
              <a:ext uri="{FF2B5EF4-FFF2-40B4-BE49-F238E27FC236}">
                <a16:creationId xmlns:a16="http://schemas.microsoft.com/office/drawing/2014/main" id="{A3C4366F-7520-45AB-B254-68AEAC96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dea-flow">
            <a:extLst xmlns:a="http://schemas.openxmlformats.org/drawingml/2006/main">
              <a:ext uri="{FF2B5EF4-FFF2-40B4-BE49-F238E27FC236}">
                <a16:creationId xmlns:a16="http://schemas.microsoft.com/office/drawing/2014/main" id="{2D8B5ED8-1714-4CC4-8321-EC466E01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Science → Model → Decision → Scale</a:t>
            </a:r>
          </a:p>
        </p:txBody>
      </p:sp>
      <p:sp>
        <p:nvSpPr>
          <p:cNvPr id="19" name="idea-end">
            <a:extLst xmlns:a="http://schemas.openxmlformats.org/drawingml/2006/main">
              <a:ext uri="{FF2B5EF4-FFF2-40B4-BE49-F238E27FC236}">
                <a16:creationId xmlns:a16="http://schemas.microsoft.com/office/drawing/2014/main" id="{8ADEC13B-E5C2-4BAE-A008-2246007F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626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C8D6DF"/>
                </a:solidFill>
              </a:defRPr>
            </a:pPr>
            <a:r>
              <a:rPr sz="1125" b="0" i="0">
                <a:solidFill>
                  <a:srgbClr val="C8D6DF"/>
                </a:solidFill>
              </a:rPr>
              <a:t>The brand behaves like the product: structured, traceable and decisive.</a:t>
            </a:r>
          </a:p>
        </p:txBody>
      </p:sp>
    </p:spTree>
    <p:extLst>
      <p:ext uri="{BB962C8B-B14F-4D97-AF65-F5344CB8AC3E}">
        <p14:creationId xmlns:p14="http://schemas.microsoft.com/office/powerpoint/2010/main" val="1069841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-3">
            <a:extLst xmlns:a="http://schemas.openxmlformats.org/drawingml/2006/main">
              <a:ext uri="{FF2B5EF4-FFF2-40B4-BE49-F238E27FC236}">
                <a16:creationId xmlns:a16="http://schemas.microsoft.com/office/drawing/2014/main" id="{9050035D-BB24-4F25-BF0C-0FCD7B41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A405F27C-84F7-44CD-96AB-B3E49597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25B2E90-94B8-44D4-857C-BCAF60EF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The pixel axolotl is the primary identifier.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7EB50DFF-61B4-4C07-AEE1-A3E9E2D0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Use the symbol alone in compact contexts and the wordmark where the product name is not already visible.</a:t>
            </a:r>
          </a:p>
        </p:txBody>
      </p:sp>
      <p:sp>
        <p:nvSpPr>
          <p:cNvPr id="5" name="logo-primary-field">
            <a:extLst xmlns:a="http://schemas.openxmlformats.org/drawingml/2006/main">
              <a:ext uri="{FF2B5EF4-FFF2-40B4-BE49-F238E27FC236}">
                <a16:creationId xmlns:a16="http://schemas.microsoft.com/office/drawing/2014/main" id="{A63ABCDE-0777-47B1-9EB4-532E4982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5339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b37c2f78c4853"/>
          <a:stretch xmlns:a="http://schemas.openxmlformats.org/drawingml/2006/main"/>
        </p:blipFill>
        <p:spPr>
          <a:xfrm xmlns:a="http://schemas.openxmlformats.org/drawingml/2006/main">
            <a:off x="1733550" y="285750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7" name="logo-primary-caption">
            <a:extLst xmlns:a="http://schemas.openxmlformats.org/drawingml/2006/main">
              <a:ext uri="{FF2B5EF4-FFF2-40B4-BE49-F238E27FC236}">
                <a16:creationId xmlns:a16="http://schemas.microsoft.com/office/drawing/2014/main" id="{A9B25B72-5E45-4727-86AC-24A82E09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D6D77"/>
                </a:solidFill>
              </a:defRPr>
            </a:pPr>
            <a:r>
              <a:rPr sz="975" b="1" i="0">
                <a:solidFill>
                  <a:srgbClr val="5D6D77"/>
                </a:solidFill>
              </a:rPr>
              <a:t>PRIMARY MARK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8deedc8d24faa"/>
          <a:stretch xmlns:a="http://schemas.openxmlformats.org/drawingml/2006/main"/>
        </p:blipFill>
        <p:spPr>
          <a:xfrm xmlns:a="http://schemas.openxmlformats.org/drawingml/2006/main">
            <a:off x="5819775" y="2209800"/>
            <a:ext cx="4667250" cy="1066800"/>
          </a:xfrm>
          <a:prstGeom xmlns:a="http://schemas.openxmlformats.org/drawingml/2006/main" prst="rect">
            <a:avLst/>
          </a:prstGeom>
        </p:spPr>
      </p:pic>
      <p:sp>
        <p:nvSpPr>
          <p:cNvPr id="9" name="rule-606-376">
            <a:extLst xmlns:a="http://schemas.openxmlformats.org/drawingml/2006/main">
              <a:ext uri="{FF2B5EF4-FFF2-40B4-BE49-F238E27FC236}">
                <a16:creationId xmlns:a16="http://schemas.microsoft.com/office/drawing/2014/main" id="{05798AEF-A02B-49E9-A9A6-65E2A0D8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546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colorways">
            <a:extLst xmlns:a="http://schemas.openxmlformats.org/drawingml/2006/main">
              <a:ext uri="{FF2B5EF4-FFF2-40B4-BE49-F238E27FC236}">
                <a16:creationId xmlns:a16="http://schemas.microsoft.com/office/drawing/2014/main" id="{75F54444-DC9A-41C1-BA13-492B77B1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10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D6D77"/>
                </a:solidFill>
              </a:defRPr>
            </a:pPr>
            <a:r>
              <a:rPr sz="1050" b="1" i="0">
                <a:solidFill>
                  <a:srgbClr val="5D6D77"/>
                </a:solidFill>
              </a:rPr>
              <a:t>APPROVED COLORWAYS</a:t>
            </a:r>
          </a:p>
        </p:txBody>
      </p:sp>
      <p:sp>
        <p:nvSpPr>
          <p:cNvPr id="11" name="variant-field-0">
            <a:extLst xmlns:a="http://schemas.openxmlformats.org/drawingml/2006/main">
              <a:ext uri="{FF2B5EF4-FFF2-40B4-BE49-F238E27FC236}">
                <a16:creationId xmlns:a16="http://schemas.microsoft.com/office/drawing/2014/main" id="{ABE19EAE-1855-4A6F-9276-9B09ADA7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4815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4af308c8b4af2"/>
          <a:stretch xmlns:a="http://schemas.openxmlformats.org/drawingml/2006/main"/>
        </p:blipFill>
        <p:spPr>
          <a:xfrm xmlns:a="http://schemas.openxmlformats.org/drawingml/2006/main">
            <a:off x="6010275" y="448627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3" name="variant-label-0">
            <a:extLst xmlns:a="http://schemas.openxmlformats.org/drawingml/2006/main">
              <a:ext uri="{FF2B5EF4-FFF2-40B4-BE49-F238E27FC236}">
                <a16:creationId xmlns:a16="http://schemas.microsoft.com/office/drawing/2014/main" id="{EE0D5D3D-BDC4-4310-AFA2-512452E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673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NAVY</a:t>
            </a:r>
          </a:p>
        </p:txBody>
      </p:sp>
      <p:sp>
        <p:nvSpPr>
          <p:cNvPr id="14" name="variant-field-1">
            <a:extLst xmlns:a="http://schemas.openxmlformats.org/drawingml/2006/main">
              <a:ext uri="{FF2B5EF4-FFF2-40B4-BE49-F238E27FC236}">
                <a16:creationId xmlns:a16="http://schemas.microsoft.com/office/drawing/2014/main" id="{00409DD2-A2CA-4205-A6B8-DA58753F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c6d37173640d5"/>
          <a:stretch xmlns:a="http://schemas.openxmlformats.org/drawingml/2006/main"/>
        </p:blipFill>
        <p:spPr>
          <a:xfrm xmlns:a="http://schemas.openxmlformats.org/drawingml/2006/main">
            <a:off x="7362825" y="448627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variant-label-1">
            <a:extLst xmlns:a="http://schemas.openxmlformats.org/drawingml/2006/main">
              <a:ext uri="{FF2B5EF4-FFF2-40B4-BE49-F238E27FC236}">
                <a16:creationId xmlns:a16="http://schemas.microsoft.com/office/drawing/2014/main" id="{8BA61ACB-BA05-461C-9046-4D351C29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673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BLUE</a:t>
            </a:r>
          </a:p>
        </p:txBody>
      </p:sp>
      <p:sp>
        <p:nvSpPr>
          <p:cNvPr id="17" name="variant-field-2">
            <a:extLst xmlns:a="http://schemas.openxmlformats.org/drawingml/2006/main">
              <a:ext uri="{FF2B5EF4-FFF2-40B4-BE49-F238E27FC236}">
                <a16:creationId xmlns:a16="http://schemas.microsoft.com/office/drawing/2014/main" id="{0D0D0DD9-2068-4B9F-B2DA-D15E4654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4815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17255dd7b49f2"/>
          <a:stretch xmlns:a="http://schemas.openxmlformats.org/drawingml/2006/main"/>
        </p:blipFill>
        <p:spPr>
          <a:xfrm xmlns:a="http://schemas.openxmlformats.org/drawingml/2006/main">
            <a:off x="8715375" y="448627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9" name="variant-label-2">
            <a:extLst xmlns:a="http://schemas.openxmlformats.org/drawingml/2006/main">
              <a:ext uri="{FF2B5EF4-FFF2-40B4-BE49-F238E27FC236}">
                <a16:creationId xmlns:a16="http://schemas.microsoft.com/office/drawing/2014/main" id="{1270CC65-3404-404C-BA4B-80E4EACC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673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LIGHT</a:t>
            </a:r>
          </a:p>
        </p:txBody>
      </p:sp>
      <p:sp>
        <p:nvSpPr>
          <p:cNvPr id="20" name="variant-field-3">
            <a:extLst xmlns:a="http://schemas.openxmlformats.org/drawingml/2006/main">
              <a:ext uri="{FF2B5EF4-FFF2-40B4-BE49-F238E27FC236}">
                <a16:creationId xmlns:a16="http://schemas.microsoft.com/office/drawing/2014/main" id="{E6263C24-A6C1-4CAC-A666-DDA2AA0E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48150"/>
            <a:ext cx="1123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14202fb2544ac"/>
          <a:stretch xmlns:a="http://schemas.openxmlformats.org/drawingml/2006/main"/>
        </p:blipFill>
        <p:spPr>
          <a:xfrm xmlns:a="http://schemas.openxmlformats.org/drawingml/2006/main">
            <a:off x="10067925" y="448627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22" name="variant-label-3">
            <a:extLst xmlns:a="http://schemas.openxmlformats.org/drawingml/2006/main">
              <a:ext uri="{FF2B5EF4-FFF2-40B4-BE49-F238E27FC236}">
                <a16:creationId xmlns:a16="http://schemas.microsoft.com/office/drawing/2014/main" id="{252EE7AD-C4F6-4BD9-81D5-77709A86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673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AMBER</a:t>
            </a:r>
          </a:p>
        </p:txBody>
      </p:sp>
    </p:spTree>
    <p:extLst>
      <p:ext uri="{BB962C8B-B14F-4D97-AF65-F5344CB8AC3E}">
        <p14:creationId xmlns:p14="http://schemas.microsoft.com/office/powerpoint/2010/main" val="666590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4">
            <a:extLst xmlns:a="http://schemas.openxmlformats.org/drawingml/2006/main">
              <a:ext uri="{FF2B5EF4-FFF2-40B4-BE49-F238E27FC236}">
                <a16:creationId xmlns:a16="http://schemas.microsoft.com/office/drawing/2014/main" id="{18569566-FC92-48F2-A7BD-3B458A7A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09C5C9F4-8667-48A2-BCF4-C3DDAF8A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428A8EC8-BED8-4CAF-9EE2-BE0F06D5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Protect the geometry and its breathing room.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598A1B1D-7A7B-4DEA-9033-75CA1F82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The symbol is intentionally rigid. Consistency creates recognition.</a:t>
            </a:r>
          </a:p>
        </p:txBody>
      </p:sp>
      <p:sp>
        <p:nvSpPr>
          <p:cNvPr id="5" name="clearspace-panel">
            <a:extLst xmlns:a="http://schemas.openxmlformats.org/drawingml/2006/main">
              <a:ext uri="{FF2B5EF4-FFF2-40B4-BE49-F238E27FC236}">
                <a16:creationId xmlns:a16="http://schemas.microsoft.com/office/drawing/2014/main" id="{AD574C21-453A-4938-B097-D9E6FA13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47625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6" name="clearspace-guide">
            <a:extLst xmlns:a="http://schemas.openxmlformats.org/drawingml/2006/main">
              <a:ext uri="{FF2B5EF4-FFF2-40B4-BE49-F238E27FC236}">
                <a16:creationId xmlns:a16="http://schemas.microsoft.com/office/drawing/2014/main" id="{02190A01-BEBF-44B0-AC1F-A67B7F7A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90800"/>
            <a:ext cx="361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3F5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fbacdc5074a00"/>
          <a:stretch xmlns:a="http://schemas.openxmlformats.org/drawingml/2006/main"/>
        </p:blipFill>
        <p:spPr>
          <a:xfrm xmlns:a="http://schemas.openxmlformats.org/drawingml/2006/main">
            <a:off x="2343150" y="3219450"/>
            <a:ext cx="1562100" cy="1562100"/>
          </a:xfrm>
          <a:prstGeom xmlns:a="http://schemas.openxmlformats.org/drawingml/2006/main" prst="rect">
            <a:avLst/>
          </a:prstGeom>
        </p:spPr>
      </p:pic>
      <p:sp>
        <p:nvSpPr>
          <p:cNvPr id="8" name="clearspace-x-left">
            <a:extLst xmlns:a="http://schemas.openxmlformats.org/drawingml/2006/main">
              <a:ext uri="{FF2B5EF4-FFF2-40B4-BE49-F238E27FC236}">
                <a16:creationId xmlns:a16="http://schemas.microsoft.com/office/drawing/2014/main" id="{DFB26F18-422A-4BB2-A1C6-D13340C3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F63F5"/>
                </a:solidFill>
              </a:defRPr>
            </a:pPr>
            <a:r>
              <a:rPr sz="1350" b="1" i="0">
                <a:solidFill>
                  <a:srgbClr val="2F63F5"/>
                </a:solidFill>
              </a:rPr>
              <a:t>1×</a:t>
            </a:r>
          </a:p>
        </p:txBody>
      </p:sp>
      <p:sp>
        <p:nvSpPr>
          <p:cNvPr id="9" name="clearspace-x-bottom">
            <a:extLst xmlns:a="http://schemas.openxmlformats.org/drawingml/2006/main">
              <a:ext uri="{FF2B5EF4-FFF2-40B4-BE49-F238E27FC236}">
                <a16:creationId xmlns:a16="http://schemas.microsoft.com/office/drawing/2014/main" id="{31800A6D-D191-420D-AD24-D560B43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6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F63F5"/>
                </a:solidFill>
              </a:defRPr>
            </a:pPr>
            <a:r>
              <a:rPr sz="1350" b="1" i="0">
                <a:solidFill>
                  <a:srgbClr val="2F63F5"/>
                </a:solidFill>
              </a:rPr>
              <a:t>1×</a:t>
            </a:r>
          </a:p>
        </p:txBody>
      </p:sp>
      <p:sp>
        <p:nvSpPr>
          <p:cNvPr id="10" name="clearspace-caption">
            <a:extLst xmlns:a="http://schemas.openxmlformats.org/drawingml/2006/main">
              <a:ext uri="{FF2B5EF4-FFF2-40B4-BE49-F238E27FC236}">
                <a16:creationId xmlns:a16="http://schemas.microsoft.com/office/drawing/2014/main" id="{2362F0B3-0749-4A17-B745-76C99351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D6D77"/>
                </a:solidFill>
              </a:defRPr>
            </a:pPr>
            <a:r>
              <a:rPr sz="1050" b="0" i="0">
                <a:solidFill>
                  <a:srgbClr val="5D6D77"/>
                </a:solidFill>
              </a:rPr>
              <a:t>Clear space equals one central-body pixel module.</a:t>
            </a:r>
          </a:p>
        </p:txBody>
      </p:sp>
      <p:sp>
        <p:nvSpPr>
          <p:cNvPr id="11" name="usage-rules">
            <a:extLst xmlns:a="http://schemas.openxmlformats.org/drawingml/2006/main">
              <a:ext uri="{FF2B5EF4-FFF2-40B4-BE49-F238E27FC236}">
                <a16:creationId xmlns:a16="http://schemas.microsoft.com/office/drawing/2014/main" id="{D2AE99FD-F91C-47F5-B07E-04185E75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F63F5"/>
                </a:solidFill>
              </a:defRPr>
            </a:pPr>
            <a:r>
              <a:rPr sz="1050" b="1" i="0">
                <a:solidFill>
                  <a:srgbClr val="2F63F5"/>
                </a:solidFill>
              </a:rPr>
              <a:t>USAGE RULES</a:t>
            </a:r>
          </a:p>
        </p:txBody>
      </p:sp>
      <p:sp>
        <p:nvSpPr>
          <p:cNvPr id="12" name="rule-value-0">
            <a:extLst xmlns:a="http://schemas.openxmlformats.org/drawingml/2006/main">
              <a:ext uri="{FF2B5EF4-FFF2-40B4-BE49-F238E27FC236}">
                <a16:creationId xmlns:a16="http://schemas.microsoft.com/office/drawing/2014/main" id="{FED6422C-6821-4461-9E2B-63C675D5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81F33"/>
                </a:solidFill>
              </a:defRPr>
            </a:pPr>
            <a:r>
              <a:rPr sz="2100" b="1" i="0">
                <a:solidFill>
                  <a:srgbClr val="081F33"/>
                </a:solidFill>
              </a:rPr>
              <a:t>24 px</a:t>
            </a:r>
          </a:p>
        </p:txBody>
      </p:sp>
      <p:sp>
        <p:nvSpPr>
          <p:cNvPr id="13" name="rule-copy-0">
            <a:extLst xmlns:a="http://schemas.openxmlformats.org/drawingml/2006/main">
              <a:ext uri="{FF2B5EF4-FFF2-40B4-BE49-F238E27FC236}">
                <a16:creationId xmlns:a16="http://schemas.microsoft.com/office/drawing/2014/main" id="{E7FD9687-5991-4AA0-A1D4-FD5305E9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Minimum digital mark size</a:t>
            </a:r>
          </a:p>
        </p:txBody>
      </p:sp>
      <p:sp>
        <p:nvSpPr>
          <p:cNvPr id="14" name="rule-650-332">
            <a:extLst xmlns:a="http://schemas.openxmlformats.org/drawingml/2006/main">
              <a:ext uri="{FF2B5EF4-FFF2-40B4-BE49-F238E27FC236}">
                <a16:creationId xmlns:a16="http://schemas.microsoft.com/office/drawing/2014/main" id="{CC15AD7E-6CE9-46BC-8552-6616B229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481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value-1">
            <a:extLst xmlns:a="http://schemas.openxmlformats.org/drawingml/2006/main">
              <a:ext uri="{FF2B5EF4-FFF2-40B4-BE49-F238E27FC236}">
                <a16:creationId xmlns:a16="http://schemas.microsoft.com/office/drawing/2014/main" id="{DD9A9250-6AC5-408E-A72F-156D0898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81F33"/>
                </a:solidFill>
              </a:defRPr>
            </a:pPr>
            <a:r>
              <a:rPr sz="2100" b="1" i="0">
                <a:solidFill>
                  <a:srgbClr val="081F33"/>
                </a:solidFill>
              </a:rPr>
              <a:t>120 px</a:t>
            </a:r>
          </a:p>
        </p:txBody>
      </p:sp>
      <p:sp>
        <p:nvSpPr>
          <p:cNvPr id="16" name="rule-copy-1">
            <a:extLst xmlns:a="http://schemas.openxmlformats.org/drawingml/2006/main">
              <a:ext uri="{FF2B5EF4-FFF2-40B4-BE49-F238E27FC236}">
                <a16:creationId xmlns:a16="http://schemas.microsoft.com/office/drawing/2014/main" id="{1C32CF8D-A5C5-47F2-8103-ADBBD86A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Minimum horizontal wordmark width</a:t>
            </a:r>
          </a:p>
        </p:txBody>
      </p:sp>
      <p:sp>
        <p:nvSpPr>
          <p:cNvPr id="17" name="rule-650-402">
            <a:extLst xmlns:a="http://schemas.openxmlformats.org/drawingml/2006/main">
              <a:ext uri="{FF2B5EF4-FFF2-40B4-BE49-F238E27FC236}">
                <a16:creationId xmlns:a16="http://schemas.microsoft.com/office/drawing/2014/main" id="{9352DA87-084B-468B-8109-30B38B8A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81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ule-value-2">
            <a:extLst xmlns:a="http://schemas.openxmlformats.org/drawingml/2006/main">
              <a:ext uri="{FF2B5EF4-FFF2-40B4-BE49-F238E27FC236}">
                <a16:creationId xmlns:a16="http://schemas.microsoft.com/office/drawing/2014/main" id="{2B513268-D8F9-4728-AD92-48B8556C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81F33"/>
                </a:solidFill>
              </a:defRPr>
            </a:pPr>
            <a:r>
              <a:rPr sz="2100" b="1" i="0">
                <a:solidFill>
                  <a:srgbClr val="081F33"/>
                </a:solidFill>
              </a:rPr>
              <a:t>0°</a:t>
            </a:r>
          </a:p>
        </p:txBody>
      </p:sp>
      <p:sp>
        <p:nvSpPr>
          <p:cNvPr id="19" name="rule-copy-2">
            <a:extLst xmlns:a="http://schemas.openxmlformats.org/drawingml/2006/main">
              <a:ext uri="{FF2B5EF4-FFF2-40B4-BE49-F238E27FC236}">
                <a16:creationId xmlns:a16="http://schemas.microsoft.com/office/drawing/2014/main" id="{328FE922-FC27-47CA-9AAB-30A6AD72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Always upright</a:t>
            </a:r>
          </a:p>
        </p:txBody>
      </p:sp>
      <p:sp>
        <p:nvSpPr>
          <p:cNvPr id="20" name="rule-650-472">
            <a:extLst xmlns:a="http://schemas.openxmlformats.org/drawingml/2006/main">
              <a:ext uri="{FF2B5EF4-FFF2-40B4-BE49-F238E27FC236}">
                <a16:creationId xmlns:a16="http://schemas.microsoft.com/office/drawing/2014/main" id="{7EE58EFC-45FF-4565-A7BA-836BDCA0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481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-value-3">
            <a:extLst xmlns:a="http://schemas.openxmlformats.org/drawingml/2006/main">
              <a:ext uri="{FF2B5EF4-FFF2-40B4-BE49-F238E27FC236}">
                <a16:creationId xmlns:a16="http://schemas.microsoft.com/office/drawing/2014/main" id="{06973941-FE15-407C-BB05-88351A7D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81F33"/>
                </a:solidFill>
              </a:defRPr>
            </a:pPr>
            <a:r>
              <a:rPr sz="2100" b="1" i="0">
                <a:solidFill>
                  <a:srgbClr val="081F33"/>
                </a:solidFill>
              </a:rPr>
              <a:t>1 color</a:t>
            </a:r>
          </a:p>
        </p:txBody>
      </p:sp>
      <p:sp>
        <p:nvSpPr>
          <p:cNvPr id="22" name="rule-copy-3">
            <a:extLst xmlns:a="http://schemas.openxmlformats.org/drawingml/2006/main">
              <a:ext uri="{FF2B5EF4-FFF2-40B4-BE49-F238E27FC236}">
                <a16:creationId xmlns:a16="http://schemas.microsoft.com/office/drawing/2014/main" id="{7247B4A9-1957-4B30-80AF-42EA03B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Never recolor individual pixels</a:t>
            </a:r>
          </a:p>
        </p:txBody>
      </p:sp>
      <p:sp>
        <p:nvSpPr>
          <p:cNvPr id="23" name="rule-650-542">
            <a:extLst xmlns:a="http://schemas.openxmlformats.org/drawingml/2006/main">
              <a:ext uri="{FF2B5EF4-FFF2-40B4-BE49-F238E27FC236}">
                <a16:creationId xmlns:a16="http://schemas.microsoft.com/office/drawing/2014/main" id="{F76E931A-4100-43CB-9161-7792729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4819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ont-rule">
            <a:extLst xmlns:a="http://schemas.openxmlformats.org/drawingml/2006/main">
              <a:ext uri="{FF2B5EF4-FFF2-40B4-BE49-F238E27FC236}">
                <a16:creationId xmlns:a16="http://schemas.microsoft.com/office/drawing/2014/main" id="{E04F681F-13A3-4F51-B087-1B5CA1D2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4819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ont-copy">
            <a:extLst xmlns:a="http://schemas.openxmlformats.org/drawingml/2006/main">
              <a:ext uri="{FF2B5EF4-FFF2-40B4-BE49-F238E27FC236}">
                <a16:creationId xmlns:a16="http://schemas.microsoft.com/office/drawing/2014/main" id="{86883617-D76A-4F2F-9F17-2D04167E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05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9E3F37"/>
                </a:solidFill>
              </a:defRPr>
            </a:pPr>
            <a:r>
              <a:rPr sz="1200" b="1" i="0">
                <a:solidFill>
                  <a:srgbClr val="9E3F37"/>
                </a:solidFill>
              </a:rPr>
              <a:t>Do not stretch, rotate, outline, shadow or redraw the mark.</a:t>
            </a:r>
          </a:p>
        </p:txBody>
      </p:sp>
    </p:spTree>
    <p:extLst>
      <p:ext uri="{BB962C8B-B14F-4D97-AF65-F5344CB8AC3E}">
        <p14:creationId xmlns:p14="http://schemas.microsoft.com/office/powerpoint/2010/main" val="481711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rand-5">
            <a:extLst xmlns:a="http://schemas.openxmlformats.org/drawingml/2006/main">
              <a:ext uri="{FF2B5EF4-FFF2-40B4-BE49-F238E27FC236}">
                <a16:creationId xmlns:a16="http://schemas.microsoft.com/office/drawing/2014/main" id="{BD75206D-EBB2-4588-A595-218973C6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4F687D6-0007-479C-9B49-E7F56FC8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19FF2C3E-FCE8-48B9-A701-E937C887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Navy leads. Blue acts. Amber signals.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A1D2983A-AD8A-4BF3-AD17-1DEFB0B0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The palette is calm by default and expressive only when information needs attention.</a:t>
            </a:r>
          </a:p>
        </p:txBody>
      </p:sp>
      <p:sp>
        <p:nvSpPr>
          <p:cNvPr id="5" name="swatch-0">
            <a:extLst xmlns:a="http://schemas.openxmlformats.org/drawingml/2006/main">
              <a:ext uri="{FF2B5EF4-FFF2-40B4-BE49-F238E27FC236}">
                <a16:creationId xmlns:a16="http://schemas.microsoft.com/office/drawing/2014/main" id="{E3FBAB1A-8352-46FF-BAED-D51A1E6B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562100" cy="22860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watch-name-0">
            <a:extLst xmlns:a="http://schemas.openxmlformats.org/drawingml/2006/main">
              <a:ext uri="{FF2B5EF4-FFF2-40B4-BE49-F238E27FC236}">
                <a16:creationId xmlns:a16="http://schemas.microsoft.com/office/drawing/2014/main" id="{951934F4-0221-46A1-ADF9-D7DA0B3D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81F33"/>
                </a:solidFill>
              </a:defRPr>
            </a:pPr>
            <a:r>
              <a:rPr sz="975" b="1" i="0">
                <a:solidFill>
                  <a:srgbClr val="081F33"/>
                </a:solidFill>
              </a:rPr>
              <a:t>AXION NAVY</a:t>
            </a:r>
          </a:p>
        </p:txBody>
      </p:sp>
      <p:sp>
        <p:nvSpPr>
          <p:cNvPr id="7" name="swatch-hex-0">
            <a:extLst xmlns:a="http://schemas.openxmlformats.org/drawingml/2006/main">
              <a:ext uri="{FF2B5EF4-FFF2-40B4-BE49-F238E27FC236}">
                <a16:creationId xmlns:a16="http://schemas.microsoft.com/office/drawing/2014/main" id="{59890831-20EE-4202-9EA5-38A0A13C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#081F33</a:t>
            </a:r>
          </a:p>
        </p:txBody>
      </p:sp>
      <p:sp>
        <p:nvSpPr>
          <p:cNvPr id="8" name="swatch-role-0">
            <a:extLst xmlns:a="http://schemas.openxmlformats.org/drawingml/2006/main">
              <a:ext uri="{FF2B5EF4-FFF2-40B4-BE49-F238E27FC236}">
                <a16:creationId xmlns:a16="http://schemas.microsoft.com/office/drawing/2014/main" id="{D398AC7C-FADD-4D6E-89EF-8C8D51DE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Foundation</a:t>
            </a:r>
          </a:p>
        </p:txBody>
      </p:sp>
      <p:sp>
        <p:nvSpPr>
          <p:cNvPr id="9" name="swatch-1">
            <a:extLst xmlns:a="http://schemas.openxmlformats.org/drawingml/2006/main">
              <a:ext uri="{FF2B5EF4-FFF2-40B4-BE49-F238E27FC236}">
                <a16:creationId xmlns:a16="http://schemas.microsoft.com/office/drawing/2014/main" id="{E5724144-A53F-47F1-8F10-3034EFB3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47900"/>
            <a:ext cx="1562100" cy="22860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watch-name-1">
            <a:extLst xmlns:a="http://schemas.openxmlformats.org/drawingml/2006/main">
              <a:ext uri="{FF2B5EF4-FFF2-40B4-BE49-F238E27FC236}">
                <a16:creationId xmlns:a16="http://schemas.microsoft.com/office/drawing/2014/main" id="{424FFBEB-8719-40A7-A003-D583929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81F33"/>
                </a:solidFill>
              </a:defRPr>
            </a:pPr>
            <a:r>
              <a:rPr sz="975" b="1" i="0">
                <a:solidFill>
                  <a:srgbClr val="081F33"/>
                </a:solidFill>
              </a:rPr>
              <a:t>SIGNAL BLUE</a:t>
            </a:r>
          </a:p>
        </p:txBody>
      </p:sp>
      <p:sp>
        <p:nvSpPr>
          <p:cNvPr id="11" name="swatch-hex-1">
            <a:extLst xmlns:a="http://schemas.openxmlformats.org/drawingml/2006/main">
              <a:ext uri="{FF2B5EF4-FFF2-40B4-BE49-F238E27FC236}">
                <a16:creationId xmlns:a16="http://schemas.microsoft.com/office/drawing/2014/main" id="{CDC177AD-FAA8-483F-893E-6D765869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67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#2F63F5</a:t>
            </a:r>
          </a:p>
        </p:txBody>
      </p:sp>
      <p:sp>
        <p:nvSpPr>
          <p:cNvPr id="12" name="swatch-role-1">
            <a:extLst xmlns:a="http://schemas.openxmlformats.org/drawingml/2006/main">
              <a:ext uri="{FF2B5EF4-FFF2-40B4-BE49-F238E27FC236}">
                <a16:creationId xmlns:a16="http://schemas.microsoft.com/office/drawing/2014/main" id="{0AB0E03D-FD64-4EEE-8216-185D2993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721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Interaction</a:t>
            </a:r>
          </a:p>
        </p:txBody>
      </p:sp>
      <p:sp>
        <p:nvSpPr>
          <p:cNvPr id="13" name="swatch-2">
            <a:extLst xmlns:a="http://schemas.openxmlformats.org/drawingml/2006/main">
              <a:ext uri="{FF2B5EF4-FFF2-40B4-BE49-F238E27FC236}">
                <a16:creationId xmlns:a16="http://schemas.microsoft.com/office/drawing/2014/main" id="{EC6807A8-919E-4BE3-B13C-6DC34BC9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1562100" cy="22860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watch-name-2">
            <a:extLst xmlns:a="http://schemas.openxmlformats.org/drawingml/2006/main">
              <a:ext uri="{FF2B5EF4-FFF2-40B4-BE49-F238E27FC236}">
                <a16:creationId xmlns:a16="http://schemas.microsoft.com/office/drawing/2014/main" id="{EA4C146F-950F-42A5-B038-A49F480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81F33"/>
                </a:solidFill>
              </a:defRPr>
            </a:pPr>
            <a:r>
              <a:rPr sz="975" b="1" i="0">
                <a:solidFill>
                  <a:srgbClr val="081F33"/>
                </a:solidFill>
              </a:rPr>
              <a:t>PROCESS TEAL</a:t>
            </a:r>
          </a:p>
        </p:txBody>
      </p:sp>
      <p:sp>
        <p:nvSpPr>
          <p:cNvPr id="15" name="swatch-hex-2">
            <a:extLst xmlns:a="http://schemas.openxmlformats.org/drawingml/2006/main">
              <a:ext uri="{FF2B5EF4-FFF2-40B4-BE49-F238E27FC236}">
                <a16:creationId xmlns:a16="http://schemas.microsoft.com/office/drawing/2014/main" id="{52F201BD-4794-4F78-B446-CE1E4943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67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#2A8F83</a:t>
            </a:r>
          </a:p>
        </p:txBody>
      </p:sp>
      <p:sp>
        <p:nvSpPr>
          <p:cNvPr id="16" name="swatch-role-2">
            <a:extLst xmlns:a="http://schemas.openxmlformats.org/drawingml/2006/main">
              <a:ext uri="{FF2B5EF4-FFF2-40B4-BE49-F238E27FC236}">
                <a16:creationId xmlns:a16="http://schemas.microsoft.com/office/drawing/2014/main" id="{76433702-75B2-405D-B54F-0A06C148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721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Evidence</a:t>
            </a:r>
          </a:p>
        </p:txBody>
      </p:sp>
      <p:sp>
        <p:nvSpPr>
          <p:cNvPr id="17" name="swatch-3">
            <a:extLst xmlns:a="http://schemas.openxmlformats.org/drawingml/2006/main">
              <a:ext uri="{FF2B5EF4-FFF2-40B4-BE49-F238E27FC236}">
                <a16:creationId xmlns:a16="http://schemas.microsoft.com/office/drawing/2014/main" id="{ABE603EB-59FD-416A-9D20-31B6DC33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47900"/>
            <a:ext cx="1562100" cy="22860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watch-name-3">
            <a:extLst xmlns:a="http://schemas.openxmlformats.org/drawingml/2006/main">
              <a:ext uri="{FF2B5EF4-FFF2-40B4-BE49-F238E27FC236}">
                <a16:creationId xmlns:a16="http://schemas.microsoft.com/office/drawing/2014/main" id="{294A7FDB-BDFD-43CE-B105-62D168F5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81F33"/>
                </a:solidFill>
              </a:defRPr>
            </a:pPr>
            <a:r>
              <a:rPr sz="975" b="1" i="0">
                <a:solidFill>
                  <a:srgbClr val="081F33"/>
                </a:solidFill>
              </a:rPr>
              <a:t>REACTOR AMBER</a:t>
            </a:r>
          </a:p>
        </p:txBody>
      </p:sp>
      <p:sp>
        <p:nvSpPr>
          <p:cNvPr id="19" name="swatch-hex-3">
            <a:extLst xmlns:a="http://schemas.openxmlformats.org/drawingml/2006/main">
              <a:ext uri="{FF2B5EF4-FFF2-40B4-BE49-F238E27FC236}">
                <a16:creationId xmlns:a16="http://schemas.microsoft.com/office/drawing/2014/main" id="{40208F84-D012-4F7E-8A25-1319FFE2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67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#F4B942</a:t>
            </a:r>
          </a:p>
        </p:txBody>
      </p:sp>
      <p:sp>
        <p:nvSpPr>
          <p:cNvPr id="20" name="swatch-role-3">
            <a:extLst xmlns:a="http://schemas.openxmlformats.org/drawingml/2006/main">
              <a:ext uri="{FF2B5EF4-FFF2-40B4-BE49-F238E27FC236}">
                <a16:creationId xmlns:a16="http://schemas.microsoft.com/office/drawing/2014/main" id="{A02DB0AB-ED07-47D0-8836-8417621F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721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Simulation</a:t>
            </a:r>
          </a:p>
        </p:txBody>
      </p:sp>
      <p:sp>
        <p:nvSpPr>
          <p:cNvPr id="21" name="swatch-4">
            <a:extLst xmlns:a="http://schemas.openxmlformats.org/drawingml/2006/main">
              <a:ext uri="{FF2B5EF4-FFF2-40B4-BE49-F238E27FC236}">
                <a16:creationId xmlns:a16="http://schemas.microsoft.com/office/drawing/2014/main" id="{2E2F5F44-CB74-47DB-A476-4127931F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1562100" cy="22860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668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watch-name-4">
            <a:extLst xmlns:a="http://schemas.openxmlformats.org/drawingml/2006/main">
              <a:ext uri="{FF2B5EF4-FFF2-40B4-BE49-F238E27FC236}">
                <a16:creationId xmlns:a16="http://schemas.microsoft.com/office/drawing/2014/main" id="{06254165-C7E5-4E3B-AE5A-BA0FD97F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62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81F33"/>
                </a:solidFill>
              </a:defRPr>
            </a:pPr>
            <a:r>
              <a:rPr sz="975" b="1" i="0">
                <a:solidFill>
                  <a:srgbClr val="081F33"/>
                </a:solidFill>
              </a:rPr>
              <a:t>SAFETY CORAL</a:t>
            </a:r>
          </a:p>
        </p:txBody>
      </p:sp>
      <p:sp>
        <p:nvSpPr>
          <p:cNvPr id="23" name="swatch-hex-4">
            <a:extLst xmlns:a="http://schemas.openxmlformats.org/drawingml/2006/main">
              <a:ext uri="{FF2B5EF4-FFF2-40B4-BE49-F238E27FC236}">
                <a16:creationId xmlns:a16="http://schemas.microsoft.com/office/drawing/2014/main" id="{7E0734C2-4F4D-4ECA-86DC-203BD3C2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67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#E6685D</a:t>
            </a:r>
          </a:p>
        </p:txBody>
      </p:sp>
      <p:sp>
        <p:nvSpPr>
          <p:cNvPr id="24" name="swatch-role-4">
            <a:extLst xmlns:a="http://schemas.openxmlformats.org/drawingml/2006/main">
              <a:ext uri="{FF2B5EF4-FFF2-40B4-BE49-F238E27FC236}">
                <a16:creationId xmlns:a16="http://schemas.microsoft.com/office/drawing/2014/main" id="{7A037A6B-04A6-477B-87A1-34B42994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721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Critical only</a:t>
            </a:r>
          </a:p>
        </p:txBody>
      </p:sp>
      <p:sp>
        <p:nvSpPr>
          <p:cNvPr id="25" name="swatch-5">
            <a:extLst xmlns:a="http://schemas.openxmlformats.org/drawingml/2006/main">
              <a:ext uri="{FF2B5EF4-FFF2-40B4-BE49-F238E27FC236}">
                <a16:creationId xmlns:a16="http://schemas.microsoft.com/office/drawing/2014/main" id="{9F66E1FC-99AE-4E6B-84BF-10183C88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1562100" cy="22860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6" name="swatch-name-5">
            <a:extLst xmlns:a="http://schemas.openxmlformats.org/drawingml/2006/main">
              <a:ext uri="{FF2B5EF4-FFF2-40B4-BE49-F238E27FC236}">
                <a16:creationId xmlns:a16="http://schemas.microsoft.com/office/drawing/2014/main" id="{617AFA4D-D41A-4859-8F8B-852C5824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62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81F33"/>
                </a:solidFill>
              </a:defRPr>
            </a:pPr>
            <a:r>
              <a:rPr sz="975" b="1" i="0">
                <a:solidFill>
                  <a:srgbClr val="081F33"/>
                </a:solidFill>
              </a:rPr>
              <a:t>ICE</a:t>
            </a:r>
          </a:p>
        </p:txBody>
      </p:sp>
      <p:sp>
        <p:nvSpPr>
          <p:cNvPr id="27" name="swatch-hex-5">
            <a:extLst xmlns:a="http://schemas.openxmlformats.org/drawingml/2006/main">
              <a:ext uri="{FF2B5EF4-FFF2-40B4-BE49-F238E27FC236}">
                <a16:creationId xmlns:a16="http://schemas.microsoft.com/office/drawing/2014/main" id="{DE2B4A56-79A6-4FA7-96C0-C39B2F0E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#F4F7F8</a:t>
            </a:r>
          </a:p>
        </p:txBody>
      </p:sp>
      <p:sp>
        <p:nvSpPr>
          <p:cNvPr id="28" name="swatch-role-5">
            <a:extLst xmlns:a="http://schemas.openxmlformats.org/drawingml/2006/main">
              <a:ext uri="{FF2B5EF4-FFF2-40B4-BE49-F238E27FC236}">
                <a16:creationId xmlns:a16="http://schemas.microsoft.com/office/drawing/2014/main" id="{6FC80C46-9FEB-413A-8830-7A14AF59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3721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Canvas</a:t>
            </a:r>
          </a:p>
        </p:txBody>
      </p:sp>
      <p:sp>
        <p:nvSpPr>
          <p:cNvPr id="29" name="color-rule">
            <a:extLst xmlns:a="http://schemas.openxmlformats.org/drawingml/2006/main">
              <a:ext uri="{FF2B5EF4-FFF2-40B4-BE49-F238E27FC236}">
                <a16:creationId xmlns:a16="http://schemas.microsoft.com/office/drawing/2014/main" id="{50B7C040-8B94-4C97-A7DC-6B542B92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20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lor-rule-copy">
            <a:extLst xmlns:a="http://schemas.openxmlformats.org/drawingml/2006/main">
              <a:ext uri="{FF2B5EF4-FFF2-40B4-BE49-F238E27FC236}">
                <a16:creationId xmlns:a16="http://schemas.microsoft.com/office/drawing/2014/main" id="{4E3F1411-26FB-4479-8C0F-908797DD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Core identity: Navy + Signal Blue + restrained Amber</a:t>
            </a:r>
          </a:p>
        </p:txBody>
      </p:sp>
      <p:sp>
        <p:nvSpPr>
          <p:cNvPr id="31" name="color-rule-note">
            <a:extLst xmlns:a="http://schemas.openxmlformats.org/drawingml/2006/main">
              <a:ext uri="{FF2B5EF4-FFF2-40B4-BE49-F238E27FC236}">
                <a16:creationId xmlns:a16="http://schemas.microsoft.com/office/drawing/2014/main" id="{C594240F-7EB4-4A45-96EB-7433E01F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D1DEE6"/>
                </a:solidFill>
              </a:defRPr>
            </a:pPr>
            <a:r>
              <a:rPr sz="1125" b="0" i="0">
                <a:solidFill>
                  <a:srgbClr val="D1DEE6"/>
                </a:solidFill>
              </a:rPr>
              <a:t>Coral is semantic, never decorative.</a:t>
            </a:r>
          </a:p>
        </p:txBody>
      </p:sp>
    </p:spTree>
    <p:extLst>
      <p:ext uri="{BB962C8B-B14F-4D97-AF65-F5344CB8AC3E}">
        <p14:creationId xmlns:p14="http://schemas.microsoft.com/office/powerpoint/2010/main" val="1318220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-6">
            <a:extLst xmlns:a="http://schemas.openxmlformats.org/drawingml/2006/main">
              <a:ext uri="{FF2B5EF4-FFF2-40B4-BE49-F238E27FC236}">
                <a16:creationId xmlns:a16="http://schemas.microsoft.com/office/drawing/2014/main" id="{038D796A-692B-429D-A85E-0ACC74FE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F8B2C40A-C2AC-49B3-A8F7-C083BE20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5BB82E7A-BBBB-45C0-B6F9-B9B2A2D8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One readable voice, one technical register.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231DBE21-3D52-42C1-91A8-C9AB56D2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Manrope carries the brand. DM Mono distinguishes engineering data.</a:t>
            </a:r>
          </a:p>
        </p:txBody>
      </p:sp>
      <p:sp>
        <p:nvSpPr>
          <p:cNvPr id="5" name="type-manrope">
            <a:extLst xmlns:a="http://schemas.openxmlformats.org/drawingml/2006/main">
              <a:ext uri="{FF2B5EF4-FFF2-40B4-BE49-F238E27FC236}">
                <a16:creationId xmlns:a16="http://schemas.microsoft.com/office/drawing/2014/main" id="{4331C3ED-6CF0-480A-BBF9-3BBAB650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081F33"/>
                </a:solidFill>
              </a:defRPr>
            </a:pPr>
            <a:r>
              <a:rPr sz="4650" b="1" i="0">
                <a:solidFill>
                  <a:srgbClr val="081F33"/>
                </a:solidFill>
              </a:rPr>
              <a:t>Manrope</a:t>
            </a:r>
          </a:p>
        </p:txBody>
      </p:sp>
      <p:sp>
        <p:nvSpPr>
          <p:cNvPr id="6" name="type-manrope-use">
            <a:extLst xmlns:a="http://schemas.openxmlformats.org/drawingml/2006/main">
              <a:ext uri="{FF2B5EF4-FFF2-40B4-BE49-F238E27FC236}">
                <a16:creationId xmlns:a16="http://schemas.microsoft.com/office/drawing/2014/main" id="{57C3B272-D078-42C2-BC5F-67767ED8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D6D77"/>
                </a:solidFill>
              </a:defRPr>
            </a:pPr>
            <a:r>
              <a:rPr sz="1425" b="0" i="0">
                <a:solidFill>
                  <a:srgbClr val="5D6D77"/>
                </a:solidFill>
              </a:rPr>
              <a:t>Headings, interface, reports and data narratives</a:t>
            </a:r>
          </a:p>
        </p:txBody>
      </p:sp>
      <p:sp>
        <p:nvSpPr>
          <p:cNvPr id="7" name="type-manrope-sample">
            <a:extLst xmlns:a="http://schemas.openxmlformats.org/drawingml/2006/main">
              <a:ext uri="{FF2B5EF4-FFF2-40B4-BE49-F238E27FC236}">
                <a16:creationId xmlns:a16="http://schemas.microsoft.com/office/drawing/2014/main" id="{5AD37A3F-E9C6-4C43-8D60-A8967F92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42C3A"/>
                </a:solidFill>
              </a:defRPr>
            </a:pPr>
            <a:r>
              <a:rPr sz="2250" b="0" i="0">
                <a:solidFill>
                  <a:srgbClr val="142C3A"/>
                </a:solidFill>
              </a:rPr>
              <a:t>Aa Bb Cc 0123456789</a:t>
            </a:r>
          </a:p>
        </p:txBody>
      </p:sp>
      <p:sp>
        <p:nvSpPr>
          <p:cNvPr id="8" name="rule-64-438">
            <a:extLst xmlns:a="http://schemas.openxmlformats.org/drawingml/2006/main">
              <a:ext uri="{FF2B5EF4-FFF2-40B4-BE49-F238E27FC236}">
                <a16:creationId xmlns:a16="http://schemas.microsoft.com/office/drawing/2014/main" id="{8F458D56-9E74-4F1C-82A0-48073AE5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ype-mono">
            <a:extLst xmlns:a="http://schemas.openxmlformats.org/drawingml/2006/main">
              <a:ext uri="{FF2B5EF4-FFF2-40B4-BE49-F238E27FC236}">
                <a16:creationId xmlns:a16="http://schemas.microsoft.com/office/drawing/2014/main" id="{14473028-8E3C-4B56-ADCB-66359E52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F63F5"/>
                </a:solidFill>
              </a:defRPr>
            </a:pPr>
            <a:r>
              <a:rPr sz="3150" b="1" i="0">
                <a:solidFill>
                  <a:srgbClr val="2F63F5"/>
                </a:solidFill>
              </a:rPr>
              <a:t>DM Mono</a:t>
            </a:r>
          </a:p>
        </p:txBody>
      </p:sp>
      <p:sp>
        <p:nvSpPr>
          <p:cNvPr id="10" name="type-mono-use">
            <a:extLst xmlns:a="http://schemas.openxmlformats.org/drawingml/2006/main">
              <a:ext uri="{FF2B5EF4-FFF2-40B4-BE49-F238E27FC236}">
                <a16:creationId xmlns:a16="http://schemas.microsoft.com/office/drawing/2014/main" id="{F5FD746B-E37D-41E6-9082-B1B564F1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Equipment tags, equations, units and versions</a:t>
            </a:r>
          </a:p>
        </p:txBody>
      </p:sp>
      <p:sp>
        <p:nvSpPr>
          <p:cNvPr id="11" name="type-mono-sample">
            <a:extLst xmlns:a="http://schemas.openxmlformats.org/drawingml/2006/main">
              <a:ext uri="{FF2B5EF4-FFF2-40B4-BE49-F238E27FC236}">
                <a16:creationId xmlns:a16="http://schemas.microsoft.com/office/drawing/2014/main" id="{2AF8D7D7-5EB1-482A-B871-D6ABD5E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42C3A"/>
                </a:solidFill>
              </a:defRPr>
            </a:pPr>
            <a:r>
              <a:rPr sz="1800" b="0" i="0">
                <a:solidFill>
                  <a:srgbClr val="142C3A"/>
                </a:solidFill>
              </a:rPr>
              <a:t>BR-201  kLa = 182 h⁻¹  v1.4.2</a:t>
            </a:r>
          </a:p>
        </p:txBody>
      </p:sp>
      <p:sp>
        <p:nvSpPr>
          <p:cNvPr id="12" name="type-hierarchy">
            <a:extLst xmlns:a="http://schemas.openxmlformats.org/drawingml/2006/main">
              <a:ext uri="{FF2B5EF4-FFF2-40B4-BE49-F238E27FC236}">
                <a16:creationId xmlns:a16="http://schemas.microsoft.com/office/drawing/2014/main" id="{2F22EDBF-31FC-43C4-8277-A6EA74A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49530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3" name="type-hierarchy-label">
            <a:extLst xmlns:a="http://schemas.openxmlformats.org/drawingml/2006/main">
              <a:ext uri="{FF2B5EF4-FFF2-40B4-BE49-F238E27FC236}">
                <a16:creationId xmlns:a16="http://schemas.microsoft.com/office/drawing/2014/main" id="{6A80C97A-2BE3-4D56-9FF4-45E8B667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F63F5"/>
                </a:solidFill>
              </a:defRPr>
            </a:pPr>
            <a:r>
              <a:rPr sz="975" b="1" i="0">
                <a:solidFill>
                  <a:srgbClr val="2F63F5"/>
                </a:solidFill>
              </a:rPr>
              <a:t>TYPE HIERARCHY</a:t>
            </a:r>
          </a:p>
        </p:txBody>
      </p:sp>
      <p:sp>
        <p:nvSpPr>
          <p:cNvPr id="14" name="type-h1">
            <a:extLst xmlns:a="http://schemas.openxmlformats.org/drawingml/2006/main">
              <a:ext uri="{FF2B5EF4-FFF2-40B4-BE49-F238E27FC236}">
                <a16:creationId xmlns:a16="http://schemas.microsoft.com/office/drawing/2014/main" id="{97A190C0-8DC1-4BE2-A753-BEF0ADE8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81F33"/>
                </a:solidFill>
              </a:defRPr>
            </a:pPr>
            <a:r>
              <a:rPr sz="2850" b="1" i="0">
                <a:solidFill>
                  <a:srgbClr val="081F33"/>
                </a:solidFill>
              </a:rPr>
              <a:t>Build the process.</a:t>
            </a:r>
          </a:p>
        </p:txBody>
      </p:sp>
      <p:sp>
        <p:nvSpPr>
          <p:cNvPr id="15" name="type-h2">
            <a:extLst xmlns:a="http://schemas.openxmlformats.org/drawingml/2006/main">
              <a:ext uri="{FF2B5EF4-FFF2-40B4-BE49-F238E27FC236}">
                <a16:creationId xmlns:a16="http://schemas.microsoft.com/office/drawing/2014/main" id="{A2D5B199-6FD5-4D54-B06E-2C614703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42C3A"/>
                </a:solidFill>
              </a:defRPr>
            </a:pPr>
            <a:r>
              <a:rPr sz="1800" b="1" i="0">
                <a:solidFill>
                  <a:srgbClr val="142C3A"/>
                </a:solidFill>
              </a:rPr>
              <a:t>Production bioreactor</a:t>
            </a:r>
          </a:p>
        </p:txBody>
      </p:sp>
      <p:sp>
        <p:nvSpPr>
          <p:cNvPr id="16" name="type-body">
            <a:extLst xmlns:a="http://schemas.openxmlformats.org/drawingml/2006/main">
              <a:ext uri="{FF2B5EF4-FFF2-40B4-BE49-F238E27FC236}">
                <a16:creationId xmlns:a16="http://schemas.microsoft.com/office/drawing/2014/main" id="{7AB41ECC-AEA8-4206-8179-18DAF638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D6D77"/>
                </a:solidFill>
              </a:defRPr>
            </a:pPr>
            <a:r>
              <a:rPr sz="1275" b="0" i="0">
                <a:solidFill>
                  <a:srgbClr val="5D6D77"/>
                </a:solidFill>
              </a:rPr>
              <a:t>Size, schedule and validate each operation against material, energy and physical constraints.</a:t>
            </a:r>
          </a:p>
        </p:txBody>
      </p:sp>
      <p:sp>
        <p:nvSpPr>
          <p:cNvPr id="17" name="type-data">
            <a:extLst xmlns:a="http://schemas.openxmlformats.org/drawingml/2006/main">
              <a:ext uri="{FF2B5EF4-FFF2-40B4-BE49-F238E27FC236}">
                <a16:creationId xmlns:a16="http://schemas.microsoft.com/office/drawing/2014/main" id="{7DE02792-13FC-45C3-B1C0-1E957D15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57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A8F83"/>
                </a:solidFill>
              </a:defRPr>
            </a:pPr>
            <a:r>
              <a:rPr sz="1350" b="1" i="0">
                <a:solidFill>
                  <a:srgbClr val="2A8F83"/>
                </a:solidFill>
              </a:rPr>
              <a:t>DO 42% · pH 7.10 · 37.0 °C</a:t>
            </a:r>
          </a:p>
        </p:txBody>
      </p:sp>
    </p:spTree>
    <p:extLst>
      <p:ext uri="{BB962C8B-B14F-4D97-AF65-F5344CB8AC3E}">
        <p14:creationId xmlns:p14="http://schemas.microsoft.com/office/powerpoint/2010/main" val="2102518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7">
            <a:extLst xmlns:a="http://schemas.openxmlformats.org/drawingml/2006/main">
              <a:ext uri="{FF2B5EF4-FFF2-40B4-BE49-F238E27FC236}">
                <a16:creationId xmlns:a16="http://schemas.microsoft.com/office/drawing/2014/main" id="{81C48EB1-6377-414C-A757-C0CC4BC4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B95AEF7A-770A-4F6C-B06A-2BE2E06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3FB26079-C16A-4DE4-B959-2597E68D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The interface stays quiet until action matters.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FC5DF354-EFE0-4F82-87DA-AEEC37D2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Light canvases preserve analytical focus; color communicates state, not decoration.</a:t>
            </a:r>
          </a:p>
        </p:txBody>
      </p:sp>
      <p:sp>
        <p:nvSpPr>
          <p:cNvPr id="5" name="interface-frame">
            <a:extLst xmlns:a="http://schemas.openxmlformats.org/drawingml/2006/main">
              <a:ext uri="{FF2B5EF4-FFF2-40B4-BE49-F238E27FC236}">
                <a16:creationId xmlns:a16="http://schemas.microsoft.com/office/drawing/2014/main" id="{A0F831D3-8854-4010-B55D-C13DA181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668000" cy="392430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bb97bd806448e"/>
          <a:srcRect xmlns:a="http://schemas.openxmlformats.org/drawingml/2006/main" l="0" t="10212" r="0" b="102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247900"/>
            <a:ext cx="8001000" cy="3581400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sp>
        <p:nvSpPr>
          <p:cNvPr id="7" name="ui-num-1">
            <a:extLst xmlns:a="http://schemas.openxmlformats.org/drawingml/2006/main">
              <a:ext uri="{FF2B5EF4-FFF2-40B4-BE49-F238E27FC236}">
                <a16:creationId xmlns:a16="http://schemas.microsoft.com/office/drawing/2014/main" id="{D3A40E2F-4A25-4091-87DC-2400F14C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F63F5"/>
                </a:solidFill>
              </a:defRPr>
            </a:pPr>
            <a:r>
              <a:rPr sz="1200" b="1" i="0">
                <a:solidFill>
                  <a:srgbClr val="2F63F5"/>
                </a:solidFill>
              </a:rPr>
              <a:t>01</a:t>
            </a:r>
          </a:p>
        </p:txBody>
      </p:sp>
      <p:sp>
        <p:nvSpPr>
          <p:cNvPr id="8" name="ui-head-1">
            <a:extLst xmlns:a="http://schemas.openxmlformats.org/drawingml/2006/main">
              <a:ext uri="{FF2B5EF4-FFF2-40B4-BE49-F238E27FC236}">
                <a16:creationId xmlns:a16="http://schemas.microsoft.com/office/drawing/2014/main" id="{E2A7C732-FF92-44D0-89BB-5104682A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Navy anchors</a:t>
            </a:r>
          </a:p>
        </p:txBody>
      </p:sp>
      <p:sp>
        <p:nvSpPr>
          <p:cNvPr id="9" name="ui-copy-1">
            <a:extLst xmlns:a="http://schemas.openxmlformats.org/drawingml/2006/main">
              <a:ext uri="{FF2B5EF4-FFF2-40B4-BE49-F238E27FC236}">
                <a16:creationId xmlns:a16="http://schemas.microsoft.com/office/drawing/2014/main" id="{FE5C2243-CDF4-4CA2-A2C5-FE7F9E4F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67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8C9D4"/>
                </a:solidFill>
              </a:defRPr>
            </a:pPr>
            <a:r>
              <a:rPr sz="1125" b="0" i="0">
                <a:solidFill>
                  <a:srgbClr val="B8C9D4"/>
                </a:solidFill>
              </a:rPr>
              <a:t>Navigation and hierarchy</a:t>
            </a:r>
          </a:p>
        </p:txBody>
      </p:sp>
      <p:sp>
        <p:nvSpPr>
          <p:cNvPr id="10" name="rule-960-382">
            <a:extLst xmlns:a="http://schemas.openxmlformats.org/drawingml/2006/main">
              <a:ext uri="{FF2B5EF4-FFF2-40B4-BE49-F238E27FC236}">
                <a16:creationId xmlns:a16="http://schemas.microsoft.com/office/drawing/2014/main" id="{1AC0F967-1DB1-4155-901F-5BEEB059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i-num-2">
            <a:extLst xmlns:a="http://schemas.openxmlformats.org/drawingml/2006/main">
              <a:ext uri="{FF2B5EF4-FFF2-40B4-BE49-F238E27FC236}">
                <a16:creationId xmlns:a16="http://schemas.microsoft.com/office/drawing/2014/main" id="{300D1C7F-B8A5-463C-B92A-8A0DF7D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A8F83"/>
                </a:solidFill>
              </a:defRPr>
            </a:pPr>
            <a:r>
              <a:rPr sz="1200" b="1" i="0">
                <a:solidFill>
                  <a:srgbClr val="2A8F83"/>
                </a:solidFill>
              </a:rPr>
              <a:t>02</a:t>
            </a:r>
          </a:p>
        </p:txBody>
      </p:sp>
      <p:sp>
        <p:nvSpPr>
          <p:cNvPr id="12" name="ui-head-2">
            <a:extLst xmlns:a="http://schemas.openxmlformats.org/drawingml/2006/main">
              <a:ext uri="{FF2B5EF4-FFF2-40B4-BE49-F238E27FC236}">
                <a16:creationId xmlns:a16="http://schemas.microsoft.com/office/drawing/2014/main" id="{BB1D7F61-BB2C-488B-8BF1-193B57DF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71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Blue acts</a:t>
            </a:r>
          </a:p>
        </p:txBody>
      </p:sp>
      <p:sp>
        <p:nvSpPr>
          <p:cNvPr id="13" name="ui-copy-2">
            <a:extLst xmlns:a="http://schemas.openxmlformats.org/drawingml/2006/main">
              <a:ext uri="{FF2B5EF4-FFF2-40B4-BE49-F238E27FC236}">
                <a16:creationId xmlns:a16="http://schemas.microsoft.com/office/drawing/2014/main" id="{061D0F2B-D5EC-44C0-8141-19720328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8C9D4"/>
                </a:solidFill>
              </a:defRPr>
            </a:pPr>
            <a:r>
              <a:rPr sz="1125" b="0" i="0">
                <a:solidFill>
                  <a:srgbClr val="B8C9D4"/>
                </a:solidFill>
              </a:rPr>
              <a:t>Selection, focus and links</a:t>
            </a:r>
          </a:p>
        </p:txBody>
      </p:sp>
      <p:sp>
        <p:nvSpPr>
          <p:cNvPr id="14" name="rule-960-534">
            <a:extLst xmlns:a="http://schemas.openxmlformats.org/drawingml/2006/main">
              <a:ext uri="{FF2B5EF4-FFF2-40B4-BE49-F238E27FC236}">
                <a16:creationId xmlns:a16="http://schemas.microsoft.com/office/drawing/2014/main" id="{5BE003FB-7F6C-40C9-BE76-DD181F77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863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ui-num-3">
            <a:extLst xmlns:a="http://schemas.openxmlformats.org/drawingml/2006/main">
              <a:ext uri="{FF2B5EF4-FFF2-40B4-BE49-F238E27FC236}">
                <a16:creationId xmlns:a16="http://schemas.microsoft.com/office/drawing/2014/main" id="{12A28911-0D2F-4F39-8AE1-978798B8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38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4B942"/>
                </a:solidFill>
              </a:defRPr>
            </a:pPr>
            <a:r>
              <a:rPr sz="1200" b="1" i="0">
                <a:solidFill>
                  <a:srgbClr val="F4B942"/>
                </a:solidFill>
              </a:rPr>
              <a:t>03</a:t>
            </a:r>
          </a:p>
        </p:txBody>
      </p:sp>
      <p:sp>
        <p:nvSpPr>
          <p:cNvPr id="16" name="ui-head-3">
            <a:extLst xmlns:a="http://schemas.openxmlformats.org/drawingml/2006/main">
              <a:ext uri="{FF2B5EF4-FFF2-40B4-BE49-F238E27FC236}">
                <a16:creationId xmlns:a16="http://schemas.microsoft.com/office/drawing/2014/main" id="{D89F5238-AE0A-4AE3-BA83-5D1BD1BF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43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Amber signals</a:t>
            </a:r>
          </a:p>
        </p:txBody>
      </p:sp>
    </p:spTree>
    <p:extLst>
      <p:ext uri="{BB962C8B-B14F-4D97-AF65-F5344CB8AC3E}">
        <p14:creationId xmlns:p14="http://schemas.microsoft.com/office/powerpoint/2010/main" val="290098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rand-8">
            <a:extLst xmlns:a="http://schemas.openxmlformats.org/drawingml/2006/main">
              <a:ext uri="{FF2B5EF4-FFF2-40B4-BE49-F238E27FC236}">
                <a16:creationId xmlns:a16="http://schemas.microsoft.com/office/drawing/2014/main" id="{3AD3C307-A2AE-4FFD-B294-8C1B8053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33D58397-FC24-43FD-8BFA-C6DB97EE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08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D72FD398-D6EB-4A7D-8392-4E3F4799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Color supports engineering meaning.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A92F596D-88CE-4609-8A06-51D01E85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Brand accents never override process, material or safety semantics.</a:t>
            </a:r>
          </a:p>
        </p:txBody>
      </p:sp>
      <p:sp>
        <p:nvSpPr>
          <p:cNvPr id="5" name="stream-language">
            <a:extLst xmlns:a="http://schemas.openxmlformats.org/drawingml/2006/main">
              <a:ext uri="{FF2B5EF4-FFF2-40B4-BE49-F238E27FC236}">
                <a16:creationId xmlns:a16="http://schemas.microsoft.com/office/drawing/2014/main" id="{9D169FD1-E6AC-4574-B4B2-7E6919AF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F63F5"/>
                </a:solidFill>
              </a:defRPr>
            </a:pPr>
            <a:r>
              <a:rPr sz="1050" b="1" i="0">
                <a:solidFill>
                  <a:srgbClr val="2F63F5"/>
                </a:solidFill>
              </a:rPr>
              <a:t>STREAM LANGUAGE</a:t>
            </a:r>
          </a:p>
        </p:txBody>
      </p:sp>
      <p:sp>
        <p:nvSpPr>
          <p:cNvPr id="6" name="stream-line-0">
            <a:extLst xmlns:a="http://schemas.openxmlformats.org/drawingml/2006/main">
              <a:ext uri="{FF2B5EF4-FFF2-40B4-BE49-F238E27FC236}">
                <a16:creationId xmlns:a16="http://schemas.microsoft.com/office/drawing/2014/main" id="{745055C5-E2E9-45F1-8612-F9FE27EC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eam-dot-0">
            <a:extLst xmlns:a="http://schemas.openxmlformats.org/drawingml/2006/main">
              <a:ext uri="{FF2B5EF4-FFF2-40B4-BE49-F238E27FC236}">
                <a16:creationId xmlns:a16="http://schemas.microsoft.com/office/drawing/2014/main" id="{BFF6F174-EEEF-4A7E-BD0E-EBA322DA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241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eam-name-0">
            <a:extLst xmlns:a="http://schemas.openxmlformats.org/drawingml/2006/main">
              <a:ext uri="{FF2B5EF4-FFF2-40B4-BE49-F238E27FC236}">
                <a16:creationId xmlns:a16="http://schemas.microsoft.com/office/drawing/2014/main" id="{A7849981-D70A-4ACA-B8F7-78FD1C34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1F33"/>
                </a:solidFill>
              </a:defRPr>
            </a:pPr>
            <a:r>
              <a:rPr sz="1200" b="1" i="0">
                <a:solidFill>
                  <a:srgbClr val="081F33"/>
                </a:solidFill>
              </a:rPr>
              <a:t>MAIN PRODUCT</a:t>
            </a:r>
          </a:p>
        </p:txBody>
      </p:sp>
      <p:sp>
        <p:nvSpPr>
          <p:cNvPr id="9" name="stream-copy-0">
            <a:extLst xmlns:a="http://schemas.openxmlformats.org/drawingml/2006/main">
              <a:ext uri="{FF2B5EF4-FFF2-40B4-BE49-F238E27FC236}">
                <a16:creationId xmlns:a16="http://schemas.microsoft.com/office/drawing/2014/main" id="{1F2D6A0F-970C-485B-BE83-2FD40AE2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D77"/>
                </a:solidFill>
              </a:defRPr>
            </a:pPr>
            <a:r>
              <a:rPr sz="1200" b="0" i="0">
                <a:solidFill>
                  <a:srgbClr val="5D6D77"/>
                </a:solidFill>
              </a:rPr>
              <a:t>Material flow and validated process path</a:t>
            </a:r>
          </a:p>
        </p:txBody>
      </p:sp>
      <p:sp>
        <p:nvSpPr>
          <p:cNvPr id="10" name="stream-line-1">
            <a:extLst xmlns:a="http://schemas.openxmlformats.org/drawingml/2006/main">
              <a:ext uri="{FF2B5EF4-FFF2-40B4-BE49-F238E27FC236}">
                <a16:creationId xmlns:a16="http://schemas.microsoft.com/office/drawing/2014/main" id="{6F962556-3143-455E-9E4D-F4384DC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eam-dot-1">
            <a:extLst xmlns:a="http://schemas.openxmlformats.org/drawingml/2006/main">
              <a:ext uri="{FF2B5EF4-FFF2-40B4-BE49-F238E27FC236}">
                <a16:creationId xmlns:a16="http://schemas.microsoft.com/office/drawing/2014/main" id="{B1D0078B-5B76-4DB8-ABB7-CCEEA60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67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ream-name-1">
            <a:extLst xmlns:a="http://schemas.openxmlformats.org/drawingml/2006/main">
              <a:ext uri="{FF2B5EF4-FFF2-40B4-BE49-F238E27FC236}">
                <a16:creationId xmlns:a16="http://schemas.microsoft.com/office/drawing/2014/main" id="{58631313-E700-441A-B7D4-49CF8E1F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71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1F33"/>
                </a:solidFill>
              </a:defRPr>
            </a:pPr>
            <a:r>
              <a:rPr sz="1200" b="1" i="0">
                <a:solidFill>
                  <a:srgbClr val="081F33"/>
                </a:solidFill>
              </a:rPr>
              <a:t>UTILITY</a:t>
            </a:r>
          </a:p>
        </p:txBody>
      </p:sp>
      <p:sp>
        <p:nvSpPr>
          <p:cNvPr id="13" name="stream-copy-1">
            <a:extLst xmlns:a="http://schemas.openxmlformats.org/drawingml/2006/main">
              <a:ext uri="{FF2B5EF4-FFF2-40B4-BE49-F238E27FC236}">
                <a16:creationId xmlns:a16="http://schemas.microsoft.com/office/drawing/2014/main" id="{254038E7-4864-4736-8433-E1E5FFAC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D77"/>
                </a:solidFill>
              </a:defRPr>
            </a:pPr>
            <a:r>
              <a:rPr sz="1200" b="0" i="0">
                <a:solidFill>
                  <a:srgbClr val="5D6D77"/>
                </a:solidFill>
              </a:rPr>
              <a:t>Water, air, power and clean services</a:t>
            </a:r>
          </a:p>
        </p:txBody>
      </p:sp>
      <p:sp>
        <p:nvSpPr>
          <p:cNvPr id="14" name="stream-line-2">
            <a:extLst xmlns:a="http://schemas.openxmlformats.org/drawingml/2006/main">
              <a:ext uri="{FF2B5EF4-FFF2-40B4-BE49-F238E27FC236}">
                <a16:creationId xmlns:a16="http://schemas.microsoft.com/office/drawing/2014/main" id="{CC065CFA-7AFA-4D0D-83F9-4CDC5D57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ream-dot-2">
            <a:extLst xmlns:a="http://schemas.openxmlformats.org/drawingml/2006/main">
              <a:ext uri="{FF2B5EF4-FFF2-40B4-BE49-F238E27FC236}">
                <a16:creationId xmlns:a16="http://schemas.microsoft.com/office/drawing/2014/main" id="{40729F95-E12C-4599-BEA5-EBF6BBC5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00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ream-name-2">
            <a:extLst xmlns:a="http://schemas.openxmlformats.org/drawingml/2006/main">
              <a:ext uri="{FF2B5EF4-FFF2-40B4-BE49-F238E27FC236}">
                <a16:creationId xmlns:a16="http://schemas.microsoft.com/office/drawing/2014/main" id="{FED1FDEE-2C9F-454C-8933-9801F9B0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1F33"/>
                </a:solidFill>
              </a:defRPr>
            </a:pPr>
            <a:r>
              <a:rPr sz="1200" b="1" i="0">
                <a:solidFill>
                  <a:srgbClr val="081F33"/>
                </a:solidFill>
              </a:rPr>
              <a:t>ACTIVE RUN</a:t>
            </a:r>
          </a:p>
        </p:txBody>
      </p:sp>
      <p:sp>
        <p:nvSpPr>
          <p:cNvPr id="17" name="stream-copy-2">
            <a:extLst xmlns:a="http://schemas.openxmlformats.org/drawingml/2006/main">
              <a:ext uri="{FF2B5EF4-FFF2-40B4-BE49-F238E27FC236}">
                <a16:creationId xmlns:a16="http://schemas.microsoft.com/office/drawing/2014/main" id="{D96B9E72-37FE-4513-88A5-EB22657E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148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D77"/>
                </a:solidFill>
              </a:defRPr>
            </a:pPr>
            <a:r>
              <a:rPr sz="1200" b="0" i="0">
                <a:solidFill>
                  <a:srgbClr val="5D6D77"/>
                </a:solidFill>
              </a:rPr>
              <a:t>Simulation, warning or pending decision</a:t>
            </a:r>
          </a:p>
        </p:txBody>
      </p:sp>
      <p:sp>
        <p:nvSpPr>
          <p:cNvPr id="18" name="stream-line-3">
            <a:extLst xmlns:a="http://schemas.openxmlformats.org/drawingml/2006/main">
              <a:ext uri="{FF2B5EF4-FFF2-40B4-BE49-F238E27FC236}">
                <a16:creationId xmlns:a16="http://schemas.microsoft.com/office/drawing/2014/main" id="{FA7A30B1-CE3B-47B9-A735-3FE8C72C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8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ream-dot-3">
            <a:extLst xmlns:a="http://schemas.openxmlformats.org/drawingml/2006/main">
              <a:ext uri="{FF2B5EF4-FFF2-40B4-BE49-F238E27FC236}">
                <a16:creationId xmlns:a16="http://schemas.microsoft.com/office/drawing/2014/main" id="{A7DC07D6-43E5-477E-A95B-C3DB3B0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530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8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ream-name-3">
            <a:extLst xmlns:a="http://schemas.openxmlformats.org/drawingml/2006/main">
              <a:ext uri="{FF2B5EF4-FFF2-40B4-BE49-F238E27FC236}">
                <a16:creationId xmlns:a16="http://schemas.microsoft.com/office/drawing/2014/main" id="{3279B414-71FD-473F-A888-B231E700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1F33"/>
                </a:solidFill>
              </a:defRPr>
            </a:pPr>
            <a:r>
              <a:rPr sz="1200" b="1" i="0">
                <a:solidFill>
                  <a:srgbClr val="081F33"/>
                </a:solidFill>
              </a:rPr>
              <a:t>CRITICAL</a:t>
            </a:r>
          </a:p>
        </p:txBody>
      </p:sp>
      <p:sp>
        <p:nvSpPr>
          <p:cNvPr id="21" name="stream-copy-3">
            <a:extLst xmlns:a="http://schemas.openxmlformats.org/drawingml/2006/main">
              <a:ext uri="{FF2B5EF4-FFF2-40B4-BE49-F238E27FC236}">
                <a16:creationId xmlns:a16="http://schemas.microsoft.com/office/drawing/2014/main" id="{CBC8DFCD-F147-4217-82DE-DEE7CB15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D6D77"/>
                </a:solidFill>
              </a:defRPr>
            </a:pPr>
            <a:r>
              <a:rPr sz="1200" b="0" i="0">
                <a:solidFill>
                  <a:srgbClr val="5D6D77"/>
                </a:solidFill>
              </a:rPr>
              <a:t>Trip, safety or out-of-bound state</a:t>
            </a:r>
          </a:p>
        </p:txBody>
      </p:sp>
      <p:sp>
        <p:nvSpPr>
          <p:cNvPr id="22" name="rule-64-606">
            <a:extLst xmlns:a="http://schemas.openxmlformats.org/drawingml/2006/main">
              <a:ext uri="{FF2B5EF4-FFF2-40B4-BE49-F238E27FC236}">
                <a16:creationId xmlns:a16="http://schemas.microsoft.com/office/drawing/2014/main" id="{BFC5BF10-5815-4514-8696-F4D68B15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quation">
            <a:extLst xmlns:a="http://schemas.openxmlformats.org/drawingml/2006/main">
              <a:ext uri="{FF2B5EF4-FFF2-40B4-BE49-F238E27FC236}">
                <a16:creationId xmlns:a16="http://schemas.microsoft.com/office/drawing/2014/main" id="{A9BE1604-5ED2-4582-9572-64AB5E43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81F33"/>
                </a:solidFill>
              </a:defRPr>
            </a:pPr>
            <a:r>
              <a:rPr sz="1650" b="1" i="0">
                <a:solidFill>
                  <a:srgbClr val="081F33"/>
                </a:solidFill>
              </a:rPr>
              <a:t>C₆H₁₂O₆ + 6 O₂ → 6 CO₂ + 6 H₂O</a:t>
            </a:r>
          </a:p>
        </p:txBody>
      </p:sp>
      <p:sp>
        <p:nvSpPr>
          <p:cNvPr id="24" name="semantic-panel">
            <a:extLst xmlns:a="http://schemas.openxmlformats.org/drawingml/2006/main">
              <a:ext uri="{FF2B5EF4-FFF2-40B4-BE49-F238E27FC236}">
                <a16:creationId xmlns:a16="http://schemas.microsoft.com/office/drawing/2014/main" id="{C777D41F-2D8F-4162-843A-B48FD2D7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cess-state">
            <a:extLst xmlns:a="http://schemas.openxmlformats.org/drawingml/2006/main">
              <a:ext uri="{FF2B5EF4-FFF2-40B4-BE49-F238E27FC236}">
                <a16:creationId xmlns:a16="http://schemas.microsoft.com/office/drawing/2014/main" id="{DAC30288-BFB3-41F1-8B6F-5A78CA04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AFC1CF"/>
                </a:solidFill>
              </a:defRPr>
            </a:pPr>
            <a:r>
              <a:rPr sz="1050" b="1" i="0">
                <a:solidFill>
                  <a:srgbClr val="AFC1CF"/>
                </a:solidFill>
              </a:rPr>
              <a:t>PROCESS STATE</a:t>
            </a:r>
          </a:p>
        </p:txBody>
      </p:sp>
      <p:sp>
        <p:nvSpPr>
          <p:cNvPr id="26" name="tag">
            <a:extLst xmlns:a="http://schemas.openxmlformats.org/drawingml/2006/main">
              <a:ext uri="{FF2B5EF4-FFF2-40B4-BE49-F238E27FC236}">
                <a16:creationId xmlns:a16="http://schemas.microsoft.com/office/drawing/2014/main" id="{A3887BCC-06C4-4193-90AD-898A2F77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BR-201</a:t>
            </a:r>
          </a:p>
        </p:txBody>
      </p:sp>
      <p:sp>
        <p:nvSpPr>
          <p:cNvPr id="27" name="tag-name">
            <a:extLst xmlns:a="http://schemas.openxmlformats.org/drawingml/2006/main">
              <a:ext uri="{FF2B5EF4-FFF2-40B4-BE49-F238E27FC236}">
                <a16:creationId xmlns:a16="http://schemas.microsoft.com/office/drawing/2014/main" id="{A8BA48B2-AAE4-4F52-AB7B-7C5B6AA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0DCE3"/>
                </a:solidFill>
              </a:defRPr>
            </a:pPr>
            <a:r>
              <a:rPr sz="1500" b="0" i="0">
                <a:solidFill>
                  <a:srgbClr val="D0DCE3"/>
                </a:solidFill>
              </a:rPr>
              <a:t>Production bioreactor</a:t>
            </a:r>
          </a:p>
        </p:txBody>
      </p:sp>
      <p:sp>
        <p:nvSpPr>
          <p:cNvPr id="28" name="metric-key-0">
            <a:extLst xmlns:a="http://schemas.openxmlformats.org/drawingml/2006/main">
              <a:ext uri="{FF2B5EF4-FFF2-40B4-BE49-F238E27FC236}">
                <a16:creationId xmlns:a16="http://schemas.microsoft.com/office/drawing/2014/main" id="{2227D0A7-ADEE-431B-9E21-816D67C2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576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A8F83"/>
                </a:solidFill>
              </a:defRPr>
            </a:pPr>
            <a:r>
              <a:rPr sz="1200" b="1" i="0">
                <a:solidFill>
                  <a:srgbClr val="2A8F83"/>
                </a:solidFill>
              </a:rPr>
              <a:t>DO</a:t>
            </a:r>
          </a:p>
        </p:txBody>
      </p:sp>
      <p:sp>
        <p:nvSpPr>
          <p:cNvPr id="29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2A2FD73E-2457-4528-ADC2-C42E88CA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42%</a:t>
            </a:r>
          </a:p>
        </p:txBody>
      </p:sp>
      <p:sp>
        <p:nvSpPr>
          <p:cNvPr id="30" name="metric-key-1">
            <a:extLst xmlns:a="http://schemas.openxmlformats.org/drawingml/2006/main">
              <a:ext uri="{FF2B5EF4-FFF2-40B4-BE49-F238E27FC236}">
                <a16:creationId xmlns:a16="http://schemas.microsoft.com/office/drawing/2014/main" id="{D5DDD043-C583-4D5E-BAF8-F7CF8CF4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A8F83"/>
                </a:solidFill>
              </a:defRPr>
            </a:pPr>
            <a:r>
              <a:rPr sz="1200" b="1" i="0">
                <a:solidFill>
                  <a:srgbClr val="2A8F83"/>
                </a:solidFill>
              </a:rPr>
              <a:t>pH</a:t>
            </a:r>
          </a:p>
        </p:txBody>
      </p:sp>
      <p:sp>
        <p:nvSpPr>
          <p:cNvPr id="31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6D914D6F-C5EA-41F5-88B5-96B59BA0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7.10</a:t>
            </a:r>
          </a:p>
        </p:txBody>
      </p:sp>
      <p:sp>
        <p:nvSpPr>
          <p:cNvPr id="32" name="metric-key-2">
            <a:extLst xmlns:a="http://schemas.openxmlformats.org/drawingml/2006/main">
              <a:ext uri="{FF2B5EF4-FFF2-40B4-BE49-F238E27FC236}">
                <a16:creationId xmlns:a16="http://schemas.microsoft.com/office/drawing/2014/main" id="{D5D075D2-B6DB-4B7F-85E9-448CAB8B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720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A8F83"/>
                </a:solidFill>
              </a:defRPr>
            </a:pPr>
            <a:r>
              <a:rPr sz="1200" b="1" i="0">
                <a:solidFill>
                  <a:srgbClr val="2A8F83"/>
                </a:solidFill>
              </a:rPr>
              <a:t>T</a:t>
            </a:r>
          </a:p>
        </p:txBody>
      </p:sp>
      <p:sp>
        <p:nvSpPr>
          <p:cNvPr id="3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5420F1D7-6CBB-48EA-851B-72D9D0C8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72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37.0 °C</a:t>
            </a:r>
          </a:p>
        </p:txBody>
      </p:sp>
      <p:sp>
        <p:nvSpPr>
          <p:cNvPr id="34" name="metric-key-3">
            <a:extLst xmlns:a="http://schemas.openxmlformats.org/drawingml/2006/main">
              <a:ext uri="{FF2B5EF4-FFF2-40B4-BE49-F238E27FC236}">
                <a16:creationId xmlns:a16="http://schemas.microsoft.com/office/drawing/2014/main" id="{C15033D3-CA61-4C3B-B2DA-E0634C00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292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A8F83"/>
                </a:solidFill>
              </a:defRPr>
            </a:pPr>
            <a:r>
              <a:rPr sz="1200" b="1" i="0">
                <a:solidFill>
                  <a:srgbClr val="2A8F83"/>
                </a:solidFill>
              </a:rPr>
              <a:t>kLa</a:t>
            </a:r>
          </a:p>
        </p:txBody>
      </p:sp>
      <p:sp>
        <p:nvSpPr>
          <p:cNvPr id="35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27D8BD54-C6DF-48F1-A546-0243C2B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29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182 h⁻¹</a:t>
            </a:r>
          </a:p>
        </p:txBody>
      </p:sp>
    </p:spTree>
    <p:extLst>
      <p:ext uri="{BB962C8B-B14F-4D97-AF65-F5344CB8AC3E}">
        <p14:creationId xmlns:p14="http://schemas.microsoft.com/office/powerpoint/2010/main" val="4067821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9">
            <a:extLst xmlns:a="http://schemas.openxmlformats.org/drawingml/2006/main">
              <a:ext uri="{FF2B5EF4-FFF2-40B4-BE49-F238E27FC236}">
                <a16:creationId xmlns:a16="http://schemas.microsoft.com/office/drawing/2014/main" id="{15DE04B2-B7DE-4A3B-B80A-08320729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AE0B4143-7413-468E-9F9C-FCD58100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09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EECE6A48-47F1-4093-98BD-1AD9AE8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The system scales from icon to plant model.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F8158CB4-F9E4-4D85-AC8B-118ACCAD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Every touchpoint uses the same hierarchy, contrast and information discipline.</a:t>
            </a:r>
          </a:p>
        </p:txBody>
      </p:sp>
      <p:sp>
        <p:nvSpPr>
          <p:cNvPr id="5" name="application-product">
            <a:extLst xmlns:a="http://schemas.openxmlformats.org/drawingml/2006/main">
              <a:ext uri="{FF2B5EF4-FFF2-40B4-BE49-F238E27FC236}">
                <a16:creationId xmlns:a16="http://schemas.microsoft.com/office/drawing/2014/main" id="{D782001E-11F2-46F7-A0E7-605DF2F1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953250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62c181def436e"/>
          <a:srcRect xmlns:a="http://schemas.openxmlformats.org/drawingml/2006/main" l="0" t="1073" r="0" b="10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247900"/>
            <a:ext cx="661035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7" name="report-cover">
            <a:extLst xmlns:a="http://schemas.openxmlformats.org/drawingml/2006/main">
              <a:ext uri="{FF2B5EF4-FFF2-40B4-BE49-F238E27FC236}">
                <a16:creationId xmlns:a16="http://schemas.microsoft.com/office/drawing/2014/main" id="{1BB2FE29-545C-4116-9042-9EA2D62A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3295650" cy="39814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2451506c7430d"/>
          <a:stretch xmlns:a="http://schemas.openxmlformats.org/drawingml/2006/main"/>
        </p:blipFill>
        <p:spPr>
          <a:xfrm xmlns:a="http://schemas.openxmlformats.org/drawingml/2006/main">
            <a:off x="8305800" y="2438400"/>
            <a:ext cx="2000250" cy="457200"/>
          </a:xfrm>
          <a:prstGeom xmlns:a="http://schemas.openxmlformats.org/drawingml/2006/main" prst="rect">
            <a:avLst/>
          </a:prstGeom>
        </p:spPr>
      </p:pic>
      <p:sp>
        <p:nvSpPr>
          <p:cNvPr id="9" name="report-title">
            <a:extLst xmlns:a="http://schemas.openxmlformats.org/drawingml/2006/main">
              <a:ext uri="{FF2B5EF4-FFF2-40B4-BE49-F238E27FC236}">
                <a16:creationId xmlns:a16="http://schemas.microsoft.com/office/drawing/2014/main" id="{EE961A0E-72C4-42C7-8E82-CF86A81A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81F33"/>
                </a:solidFill>
              </a:defRPr>
            </a:pPr>
            <a:r>
              <a:rPr sz="2025" b="1" i="0">
                <a:solidFill>
                  <a:srgbClr val="081F33"/>
                </a:solidFill>
              </a:rPr>
              <a:t>PROCESS MODEL</a:t>
            </a:r>
          </a:p>
          <a:p xmlns:a="http://schemas.openxmlformats.org/drawingml/2006/main">
            <a:pPr algn="l">
              <a:buNone/>
              <a:defRPr sz="2025" b="1" i="0">
                <a:solidFill>
                  <a:srgbClr val="081F33"/>
                </a:solidFill>
              </a:defRPr>
            </a:pPr>
            <a:r>
              <a:rPr sz="2025" b="1" i="0">
                <a:solidFill>
                  <a:srgbClr val="081F33"/>
                </a:solidFill>
              </a:rPr>
              <a:t>VALIDATION REPORT</a:t>
            </a:r>
          </a:p>
        </p:txBody>
      </p:sp>
      <p:sp>
        <p:nvSpPr>
          <p:cNvPr id="10" name="rule-872-480">
            <a:extLst xmlns:a="http://schemas.openxmlformats.org/drawingml/2006/main">
              <a:ext uri="{FF2B5EF4-FFF2-40B4-BE49-F238E27FC236}">
                <a16:creationId xmlns:a16="http://schemas.microsoft.com/office/drawing/2014/main" id="{4C080D5A-CA8E-4A80-BF2F-0661B371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259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port-meta">
            <a:extLst xmlns:a="http://schemas.openxmlformats.org/drawingml/2006/main">
              <a:ext uri="{FF2B5EF4-FFF2-40B4-BE49-F238E27FC236}">
                <a16:creationId xmlns:a16="http://schemas.microsoft.com/office/drawing/2014/main" id="{428A2A0F-4095-41C4-8256-D195CBE8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38700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mAb fed-batch platform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BR-201 · v2.4 · 05 AUG 2026</a:t>
            </a:r>
          </a:p>
        </p:txBody>
      </p:sp>
      <p:sp>
        <p:nvSpPr>
          <p:cNvPr id="12" name="report-accent">
            <a:extLst xmlns:a="http://schemas.openxmlformats.org/drawingml/2006/main">
              <a:ext uri="{FF2B5EF4-FFF2-40B4-BE49-F238E27FC236}">
                <a16:creationId xmlns:a16="http://schemas.microsoft.com/office/drawing/2014/main" id="{F9309F1B-C66C-4DC3-ADBA-F2596E5B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110490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duct-label">
            <a:extLst xmlns:a="http://schemas.openxmlformats.org/drawingml/2006/main">
              <a:ext uri="{FF2B5EF4-FFF2-40B4-BE49-F238E27FC236}">
                <a16:creationId xmlns:a16="http://schemas.microsoft.com/office/drawing/2014/main" id="{66B7CBE1-8C32-4449-8B84-635E113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D6D77"/>
                </a:solidFill>
              </a:defRPr>
            </a:pPr>
            <a:r>
              <a:rPr sz="900" b="1" i="0">
                <a:solidFill>
                  <a:srgbClr val="5D6D77"/>
                </a:solidFill>
              </a:rPr>
              <a:t>PRODUCT</a:t>
            </a:r>
          </a:p>
        </p:txBody>
      </p:sp>
      <p:sp>
        <p:nvSpPr>
          <p:cNvPr id="14" name="document-label">
            <a:extLst xmlns:a="http://schemas.openxmlformats.org/drawingml/2006/main">
              <a:ext uri="{FF2B5EF4-FFF2-40B4-BE49-F238E27FC236}">
                <a16:creationId xmlns:a16="http://schemas.microsoft.com/office/drawing/2014/main" id="{A9DA12AC-8605-4D18-B89D-D470247E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91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D6D77"/>
                </a:solidFill>
              </a:defRPr>
            </a:pPr>
            <a:r>
              <a:rPr sz="900" b="1" i="0">
                <a:solidFill>
                  <a:srgbClr val="5D6D77"/>
                </a:solidFill>
              </a:rPr>
              <a:t>DOCUMENT</a:t>
            </a:r>
          </a:p>
        </p:txBody>
      </p:sp>
    </p:spTree>
    <p:extLst>
      <p:ext uri="{BB962C8B-B14F-4D97-AF65-F5344CB8AC3E}">
        <p14:creationId xmlns:p14="http://schemas.microsoft.com/office/powerpoint/2010/main" val="11951023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10">
            <a:extLst xmlns:a="http://schemas.openxmlformats.org/drawingml/2006/main">
              <a:ext uri="{FF2B5EF4-FFF2-40B4-BE49-F238E27FC236}">
                <a16:creationId xmlns:a16="http://schemas.microsoft.com/office/drawing/2014/main" id="{D5444C3E-A406-44F1-9F9A-D6A6B566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AXION PROCESS OS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E95E9B15-5617-4C79-8144-3553A12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AFC1CF"/>
                </a:solidFill>
              </a:defRPr>
            </a:pPr>
            <a:r>
              <a:rPr sz="900" b="0" i="0">
                <a:solidFill>
                  <a:srgbClr val="AFC1CF"/>
                </a:solidFill>
              </a:rPr>
              <a:t>CI / 10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E1C359B8-E276-4164-938F-8F14F309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Consistency is a product quality standard.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25B7E94B-AD54-4F04-91C9-C16A18C6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C3D0D9"/>
                </a:solidFill>
              </a:defRPr>
            </a:pPr>
            <a:r>
              <a:rPr sz="1350" b="0" i="0">
                <a:solidFill>
                  <a:srgbClr val="C3D0D9"/>
                </a:solidFill>
              </a:rPr>
              <a:t>Use the approved assets, check contrast and keep the identity subordinate to engineering meaning.</a:t>
            </a:r>
          </a:p>
        </p:txBody>
      </p:sp>
      <p:sp>
        <p:nvSpPr>
          <p:cNvPr id="5" name="check-box-0">
            <a:extLst xmlns:a="http://schemas.openxmlformats.org/drawingml/2006/main">
              <a:ext uri="{FF2B5EF4-FFF2-40B4-BE49-F238E27FC236}">
                <a16:creationId xmlns:a16="http://schemas.microsoft.com/office/drawing/2014/main" id="{C53090D5-592B-4CFF-8944-05B38177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eck-0">
            <a:extLst xmlns:a="http://schemas.openxmlformats.org/drawingml/2006/main">
              <a:ext uri="{FF2B5EF4-FFF2-40B4-BE49-F238E27FC236}">
                <a16:creationId xmlns:a16="http://schemas.microsoft.com/office/drawing/2014/main" id="{4F15A400-FAC0-4908-B9FE-39B9209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check-copy-0">
            <a:extLst xmlns:a="http://schemas.openxmlformats.org/drawingml/2006/main">
              <a:ext uri="{FF2B5EF4-FFF2-40B4-BE49-F238E27FC236}">
                <a16:creationId xmlns:a16="http://schemas.microsoft.com/office/drawing/2014/main" id="{72C74E44-F57F-4216-BF7B-BC99245B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2885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Use the primary navy mark by default</a:t>
            </a:r>
          </a:p>
        </p:txBody>
      </p:sp>
      <p:sp>
        <p:nvSpPr>
          <p:cNvPr id="8" name="check-box-1">
            <a:extLst xmlns:a="http://schemas.openxmlformats.org/drawingml/2006/main">
              <a:ext uri="{FF2B5EF4-FFF2-40B4-BE49-F238E27FC236}">
                <a16:creationId xmlns:a16="http://schemas.microsoft.com/office/drawing/2014/main" id="{80196201-8182-4038-A541-23265898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-1">
            <a:extLst xmlns:a="http://schemas.openxmlformats.org/drawingml/2006/main">
              <a:ext uri="{FF2B5EF4-FFF2-40B4-BE49-F238E27FC236}">
                <a16:creationId xmlns:a16="http://schemas.microsoft.com/office/drawing/2014/main" id="{F8D840CC-ADCF-42C2-B539-AFB602FF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check-copy-1">
            <a:extLst xmlns:a="http://schemas.openxmlformats.org/drawingml/2006/main">
              <a:ext uri="{FF2B5EF4-FFF2-40B4-BE49-F238E27FC236}">
                <a16:creationId xmlns:a16="http://schemas.microsoft.com/office/drawing/2014/main" id="{6326A36A-F579-41A4-B072-9A858CD5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Keep one module of clear space</a:t>
            </a:r>
          </a:p>
        </p:txBody>
      </p:sp>
      <p:sp>
        <p:nvSpPr>
          <p:cNvPr id="11" name="check-box-2">
            <a:extLst xmlns:a="http://schemas.openxmlformats.org/drawingml/2006/main">
              <a:ext uri="{FF2B5EF4-FFF2-40B4-BE49-F238E27FC236}">
                <a16:creationId xmlns:a16="http://schemas.microsoft.com/office/drawing/2014/main" id="{2A483135-71E9-4215-A376-432684B7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-2">
            <a:extLst xmlns:a="http://schemas.openxmlformats.org/drawingml/2006/main">
              <a:ext uri="{FF2B5EF4-FFF2-40B4-BE49-F238E27FC236}">
                <a16:creationId xmlns:a16="http://schemas.microsoft.com/office/drawing/2014/main" id="{832E491A-677D-479E-8E12-594023C9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check-copy-2">
            <a:extLst xmlns:a="http://schemas.openxmlformats.org/drawingml/2006/main">
              <a:ext uri="{FF2B5EF4-FFF2-40B4-BE49-F238E27FC236}">
                <a16:creationId xmlns:a16="http://schemas.microsoft.com/office/drawing/2014/main" id="{C69085C3-0CAA-433B-B9F1-44C4E85D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Use Manrope and DM Mono consistently</a:t>
            </a:r>
          </a:p>
        </p:txBody>
      </p:sp>
      <p:sp>
        <p:nvSpPr>
          <p:cNvPr id="14" name="check-box-3">
            <a:extLst xmlns:a="http://schemas.openxmlformats.org/drawingml/2006/main">
              <a:ext uri="{FF2B5EF4-FFF2-40B4-BE49-F238E27FC236}">
                <a16:creationId xmlns:a16="http://schemas.microsoft.com/office/drawing/2014/main" id="{9928534D-A40E-497D-81B9-8F414635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-3">
            <a:extLst xmlns:a="http://schemas.openxmlformats.org/drawingml/2006/main">
              <a:ext uri="{FF2B5EF4-FFF2-40B4-BE49-F238E27FC236}">
                <a16:creationId xmlns:a16="http://schemas.microsoft.com/office/drawing/2014/main" id="{482366BB-B921-4A09-90BE-F0D90C37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check-copy-3">
            <a:extLst xmlns:a="http://schemas.openxmlformats.org/drawingml/2006/main">
              <a:ext uri="{FF2B5EF4-FFF2-40B4-BE49-F238E27FC236}">
                <a16:creationId xmlns:a16="http://schemas.microsoft.com/office/drawing/2014/main" id="{2569F307-D6A6-462E-A1B7-5B184B4D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Reserve blue for interaction and amber for active attention</a:t>
            </a:r>
          </a:p>
        </p:txBody>
      </p:sp>
      <p:sp>
        <p:nvSpPr>
          <p:cNvPr id="17" name="check-box-4">
            <a:extLst xmlns:a="http://schemas.openxmlformats.org/drawingml/2006/main">
              <a:ext uri="{FF2B5EF4-FFF2-40B4-BE49-F238E27FC236}">
                <a16:creationId xmlns:a16="http://schemas.microsoft.com/office/drawing/2014/main" id="{57B9522B-6BCE-439F-81E9-32A10C4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86F78CFA-57E3-40E7-B1E4-F788E781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check-copy-4">
            <a:extLst xmlns:a="http://schemas.openxmlformats.org/drawingml/2006/main">
              <a:ext uri="{FF2B5EF4-FFF2-40B4-BE49-F238E27FC236}">
                <a16:creationId xmlns:a16="http://schemas.microsoft.com/office/drawing/2014/main" id="{34805696-CEFE-477C-9C31-FE1A45A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Use coral only for critical or safety states</a:t>
            </a:r>
          </a:p>
        </p:txBody>
      </p:sp>
      <p:sp>
        <p:nvSpPr>
          <p:cNvPr id="20" name="check-box-5">
            <a:extLst xmlns:a="http://schemas.openxmlformats.org/drawingml/2006/main">
              <a:ext uri="{FF2B5EF4-FFF2-40B4-BE49-F238E27FC236}">
                <a16:creationId xmlns:a16="http://schemas.microsoft.com/office/drawing/2014/main" id="{C750BDAB-380F-49FD-B04E-EBC0E215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-5">
            <a:extLst xmlns:a="http://schemas.openxmlformats.org/drawingml/2006/main">
              <a:ext uri="{FF2B5EF4-FFF2-40B4-BE49-F238E27FC236}">
                <a16:creationId xmlns:a16="http://schemas.microsoft.com/office/drawing/2014/main" id="{F941F5DB-1D66-46CE-ADC1-155D78AD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check-copy-5">
            <a:extLst xmlns:a="http://schemas.openxmlformats.org/drawingml/2006/main">
              <a:ext uri="{FF2B5EF4-FFF2-40B4-BE49-F238E27FC236}">
                <a16:creationId xmlns:a16="http://schemas.microsoft.com/office/drawing/2014/main" id="{342D2864-6B9A-4C1A-810A-CF4CEDB6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145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Verify contrast on every light and dark surface</a:t>
            </a:r>
          </a:p>
        </p:txBody>
      </p:sp>
      <p:sp>
        <p:nvSpPr>
          <p:cNvPr id="23" name="rule-64-536">
            <a:extLst xmlns:a="http://schemas.openxmlformats.org/drawingml/2006/main">
              <a:ext uri="{FF2B5EF4-FFF2-40B4-BE49-F238E27FC236}">
                <a16:creationId xmlns:a16="http://schemas.microsoft.com/office/drawing/2014/main" id="{05181624-B1D9-4E9A-A821-2376697A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e92b224d948de"/>
          <a:stretch xmlns:a="http://schemas.openxmlformats.org/drawingml/2006/main"/>
        </p:blipFill>
        <p:spPr>
          <a:xfrm xmlns:a="http://schemas.openxmlformats.org/drawingml/2006/main">
            <a:off x="609600" y="546735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5" name="download-title">
            <a:extLst xmlns:a="http://schemas.openxmlformats.org/drawingml/2006/main">
              <a:ext uri="{FF2B5EF4-FFF2-40B4-BE49-F238E27FC236}">
                <a16:creationId xmlns:a16="http://schemas.microsoft.com/office/drawing/2014/main" id="{91C84DCB-D833-4774-936C-8F0FF1BD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483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Download the complete asset library</a:t>
            </a:r>
          </a:p>
        </p:txBody>
      </p:sp>
      <p:sp>
        <p:nvSpPr>
          <p:cNvPr id="26" name="download-url">
            <a:extLst xmlns:a="http://schemas.openxmlformats.org/drawingml/2006/main">
              <a:ext uri="{FF2B5EF4-FFF2-40B4-BE49-F238E27FC236}">
                <a16:creationId xmlns:a16="http://schemas.microsoft.com/office/drawing/2014/main" id="{114C4F23-8909-4947-A54C-3526A3D8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2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4B942"/>
                </a:solidFill>
              </a:defRPr>
            </a:pPr>
            <a:r>
              <a:rPr sz="1350" b="1" i="0">
                <a:solidFill>
                  <a:srgbClr val="F4B942"/>
                </a:solidFill>
              </a:rPr>
              <a:t>ax-i-on.com/brand</a:t>
            </a:r>
          </a:p>
        </p:txBody>
      </p:sp>
      <p:sp>
        <p:nvSpPr>
          <p:cNvPr id="27" name="download-assets">
            <a:extLst xmlns:a="http://schemas.openxmlformats.org/drawingml/2006/main">
              <a:ext uri="{FF2B5EF4-FFF2-40B4-BE49-F238E27FC236}">
                <a16:creationId xmlns:a16="http://schemas.microsoft.com/office/drawing/2014/main" id="{F7C3614B-6716-4885-A545-E8C21B17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B9CAD4"/>
                </a:solidFill>
              </a:defRPr>
            </a:pPr>
            <a:r>
              <a:rPr sz="1200" b="0" i="0">
                <a:solidFill>
                  <a:srgbClr val="B9CAD4"/>
                </a:solidFill>
              </a:rPr>
              <a:t>SVG marks · wordmarks · favicon · CI guide · PowerPoint</a:t>
            </a:r>
          </a:p>
        </p:txBody>
      </p:sp>
    </p:spTree>
    <p:extLst>
      <p:ext uri="{BB962C8B-B14F-4D97-AF65-F5344CB8AC3E}">
        <p14:creationId xmlns:p14="http://schemas.microsoft.com/office/powerpoint/2010/main" val="1920883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-11">
            <a:extLst xmlns:a="http://schemas.openxmlformats.org/drawingml/2006/main">
              <a:ext uri="{FF2B5EF4-FFF2-40B4-BE49-F238E27FC236}">
                <a16:creationId xmlns:a16="http://schemas.microsoft.com/office/drawing/2014/main" id="{702F4EDE-9C2D-441D-9ED1-31AD4558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35F22D82-22A8-4854-AF69-5341A023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11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137D7177-4D8C-41AF-87BD-EC05DE23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Write for the decision, not the feature list.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B8F57BFE-7472-4291-B499-8CD97C83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Axion sounds like an experienced engineer: direct, specific and evidence-led.</a:t>
            </a:r>
          </a:p>
        </p:txBody>
      </p:sp>
      <p:sp>
        <p:nvSpPr>
          <p:cNvPr id="5" name="voice-num-0">
            <a:extLst xmlns:a="http://schemas.openxmlformats.org/drawingml/2006/main">
              <a:ext uri="{FF2B5EF4-FFF2-40B4-BE49-F238E27FC236}">
                <a16:creationId xmlns:a16="http://schemas.microsoft.com/office/drawing/2014/main" id="{649951E9-5D8C-4F69-A726-1BFE3294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63F5"/>
                </a:solidFill>
              </a:defRPr>
            </a:pPr>
            <a:r>
              <a:rPr sz="1125" b="1" i="0">
                <a:solidFill>
                  <a:srgbClr val="2F63F5"/>
                </a:solidFill>
              </a:rPr>
              <a:t>01</a:t>
            </a:r>
          </a:p>
        </p:txBody>
      </p:sp>
      <p:sp>
        <p:nvSpPr>
          <p:cNvPr id="6" name="rule-64-266">
            <a:extLst xmlns:a="http://schemas.openxmlformats.org/drawingml/2006/main">
              <a:ext uri="{FF2B5EF4-FFF2-40B4-BE49-F238E27FC236}">
                <a16:creationId xmlns:a16="http://schemas.microsoft.com/office/drawing/2014/main" id="{2E90CF83-1655-4A10-8C4D-2491D32A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219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oice-head-0">
            <a:extLst xmlns:a="http://schemas.openxmlformats.org/drawingml/2006/main">
              <a:ext uri="{FF2B5EF4-FFF2-40B4-BE49-F238E27FC236}">
                <a16:creationId xmlns:a16="http://schemas.microsoft.com/office/drawing/2014/main" id="{2F86FC1C-F3C8-4CFF-9260-6A91C4AC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1F33"/>
                </a:solidFill>
              </a:defRPr>
            </a:pPr>
            <a:r>
              <a:rPr sz="1650" b="1" i="0">
                <a:solidFill>
                  <a:srgbClr val="081F33"/>
                </a:solidFill>
              </a:rPr>
              <a:t>DIRECT</a:t>
            </a:r>
          </a:p>
        </p:txBody>
      </p:sp>
      <p:sp>
        <p:nvSpPr>
          <p:cNvPr id="8" name="voice-copy-0">
            <a:extLst xmlns:a="http://schemas.openxmlformats.org/drawingml/2006/main">
              <a:ext uri="{FF2B5EF4-FFF2-40B4-BE49-F238E27FC236}">
                <a16:creationId xmlns:a16="http://schemas.microsoft.com/office/drawing/2014/main" id="{22E3F957-DA1E-45DA-BE00-5195B6D7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Lead with the engineering outcome.</a:t>
            </a:r>
          </a:p>
        </p:txBody>
      </p:sp>
      <p:sp>
        <p:nvSpPr>
          <p:cNvPr id="9" name="voice-num-1">
            <a:extLst xmlns:a="http://schemas.openxmlformats.org/drawingml/2006/main">
              <a:ext uri="{FF2B5EF4-FFF2-40B4-BE49-F238E27FC236}">
                <a16:creationId xmlns:a16="http://schemas.microsoft.com/office/drawing/2014/main" id="{8DE2807D-CC4C-423C-8B3C-4E5DF859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A8F83"/>
                </a:solidFill>
              </a:defRPr>
            </a:pPr>
            <a:r>
              <a:rPr sz="1125" b="1" i="0">
                <a:solidFill>
                  <a:srgbClr val="2A8F83"/>
                </a:solidFill>
              </a:rPr>
              <a:t>02</a:t>
            </a:r>
          </a:p>
        </p:txBody>
      </p:sp>
      <p:sp>
        <p:nvSpPr>
          <p:cNvPr id="10" name="rule-442-266">
            <a:extLst xmlns:a="http://schemas.openxmlformats.org/drawingml/2006/main">
              <a:ext uri="{FF2B5EF4-FFF2-40B4-BE49-F238E27FC236}">
                <a16:creationId xmlns:a16="http://schemas.microsoft.com/office/drawing/2014/main" id="{E82351B7-AC37-4DC2-9D4B-1B734A95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33650"/>
            <a:ext cx="3219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oice-head-1">
            <a:extLst xmlns:a="http://schemas.openxmlformats.org/drawingml/2006/main">
              <a:ext uri="{FF2B5EF4-FFF2-40B4-BE49-F238E27FC236}">
                <a16:creationId xmlns:a16="http://schemas.microsoft.com/office/drawing/2014/main" id="{8A7728F2-5DF8-4A2F-BAB3-171404E0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1F33"/>
                </a:solidFill>
              </a:defRPr>
            </a:pPr>
            <a:r>
              <a:rPr sz="1650" b="1" i="0">
                <a:solidFill>
                  <a:srgbClr val="081F33"/>
                </a:solidFill>
              </a:rPr>
              <a:t>SPECIFIC</a:t>
            </a:r>
          </a:p>
        </p:txBody>
      </p:sp>
      <p:sp>
        <p:nvSpPr>
          <p:cNvPr id="12" name="voice-copy-1">
            <a:extLst xmlns:a="http://schemas.openxmlformats.org/drawingml/2006/main">
              <a:ext uri="{FF2B5EF4-FFF2-40B4-BE49-F238E27FC236}">
                <a16:creationId xmlns:a16="http://schemas.microsoft.com/office/drawing/2014/main" id="{6E231931-2BB5-4A92-B828-84A2395F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Name the process, variable and constraint.</a:t>
            </a:r>
          </a:p>
        </p:txBody>
      </p:sp>
      <p:sp>
        <p:nvSpPr>
          <p:cNvPr id="13" name="voice-num-2">
            <a:extLst xmlns:a="http://schemas.openxmlformats.org/drawingml/2006/main">
              <a:ext uri="{FF2B5EF4-FFF2-40B4-BE49-F238E27FC236}">
                <a16:creationId xmlns:a16="http://schemas.microsoft.com/office/drawing/2014/main" id="{6998ED11-1C52-454B-807F-48610203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B942"/>
                </a:solidFill>
              </a:defRPr>
            </a:pPr>
            <a:r>
              <a:rPr sz="1125" b="1" i="0">
                <a:solidFill>
                  <a:srgbClr val="F4B942"/>
                </a:solidFill>
              </a:rPr>
              <a:t>03</a:t>
            </a:r>
          </a:p>
        </p:txBody>
      </p:sp>
      <p:sp>
        <p:nvSpPr>
          <p:cNvPr id="14" name="rule-820-266">
            <a:extLst xmlns:a="http://schemas.openxmlformats.org/drawingml/2006/main">
              <a:ext uri="{FF2B5EF4-FFF2-40B4-BE49-F238E27FC236}">
                <a16:creationId xmlns:a16="http://schemas.microsoft.com/office/drawing/2014/main" id="{6FC8D6C4-21DD-4A7F-8FF5-7DE3CDB8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33650"/>
            <a:ext cx="3219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oice-head-2">
            <a:extLst xmlns:a="http://schemas.openxmlformats.org/drawingml/2006/main">
              <a:ext uri="{FF2B5EF4-FFF2-40B4-BE49-F238E27FC236}">
                <a16:creationId xmlns:a16="http://schemas.microsoft.com/office/drawing/2014/main" id="{426FFBD5-8964-4580-A463-6C48410D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1F33"/>
                </a:solidFill>
              </a:defRPr>
            </a:pPr>
            <a:r>
              <a:rPr sz="1650" b="1" i="0">
                <a:solidFill>
                  <a:srgbClr val="081F33"/>
                </a:solidFill>
              </a:rPr>
              <a:t>EVIDENCE-LED</a:t>
            </a:r>
          </a:p>
        </p:txBody>
      </p:sp>
      <p:sp>
        <p:nvSpPr>
          <p:cNvPr id="16" name="voice-copy-2">
            <a:extLst xmlns:a="http://schemas.openxmlformats.org/drawingml/2006/main">
              <a:ext uri="{FF2B5EF4-FFF2-40B4-BE49-F238E27FC236}">
                <a16:creationId xmlns:a16="http://schemas.microsoft.com/office/drawing/2014/main" id="{79381B90-A168-4EF2-A38B-58B3ADCE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Separate measured data, assumptions and recommendations.</a:t>
            </a:r>
          </a:p>
        </p:txBody>
      </p:sp>
      <p:sp>
        <p:nvSpPr>
          <p:cNvPr id="17" name="voice-do">
            <a:extLst xmlns:a="http://schemas.openxmlformats.org/drawingml/2006/main">
              <a:ext uri="{FF2B5EF4-FFF2-40B4-BE49-F238E27FC236}">
                <a16:creationId xmlns:a16="http://schemas.microsoft.com/office/drawing/2014/main" id="{4B9AF74B-9B0C-4A69-9FE4-BCFA8DB2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8" name="voice-say">
            <a:extLst xmlns:a="http://schemas.openxmlformats.org/drawingml/2006/main">
              <a:ext uri="{FF2B5EF4-FFF2-40B4-BE49-F238E27FC236}">
                <a16:creationId xmlns:a16="http://schemas.microsoft.com/office/drawing/2014/main" id="{0AF3B6FA-53F8-4413-A2BC-ADAE0BF1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A8F83"/>
                </a:solidFill>
              </a:defRPr>
            </a:pPr>
            <a:r>
              <a:rPr sz="1050" b="1" i="0">
                <a:solidFill>
                  <a:srgbClr val="2A8F83"/>
                </a:solidFill>
              </a:rPr>
              <a:t>SAY</a:t>
            </a:r>
          </a:p>
        </p:txBody>
      </p:sp>
      <p:sp>
        <p:nvSpPr>
          <p:cNvPr id="19" name="voice-good">
            <a:extLst xmlns:a="http://schemas.openxmlformats.org/drawingml/2006/main">
              <a:ext uri="{FF2B5EF4-FFF2-40B4-BE49-F238E27FC236}">
                <a16:creationId xmlns:a16="http://schemas.microsoft.com/office/drawing/2014/main" id="{3F21E9F4-B3EF-4DF6-AD7A-08819C9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F33"/>
                </a:solidFill>
              </a:defRPr>
            </a:pPr>
            <a:r>
              <a:rPr sz="1425" b="1" i="0">
                <a:solidFill>
                  <a:srgbClr val="081F33"/>
                </a:solidFill>
              </a:rPr>
              <a:t>Compare three feed strategies to reduce media cost without lowering viable cell density.</a:t>
            </a:r>
          </a:p>
        </p:txBody>
      </p:sp>
      <p:sp>
        <p:nvSpPr>
          <p:cNvPr id="20" name="voice-dont">
            <a:extLst xmlns:a="http://schemas.openxmlformats.org/drawingml/2006/main">
              <a:ext uri="{FF2B5EF4-FFF2-40B4-BE49-F238E27FC236}">
                <a16:creationId xmlns:a16="http://schemas.microsoft.com/office/drawing/2014/main" id="{A225A24D-27D4-41BC-B716-16B63738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5162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oice-avoid">
            <a:extLst xmlns:a="http://schemas.openxmlformats.org/drawingml/2006/main">
              <a:ext uri="{FF2B5EF4-FFF2-40B4-BE49-F238E27FC236}">
                <a16:creationId xmlns:a16="http://schemas.microsoft.com/office/drawing/2014/main" id="{93D5FA33-4341-4744-99BF-2D1B98E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529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6685D"/>
                </a:solidFill>
              </a:defRPr>
            </a:pPr>
            <a:r>
              <a:rPr sz="1050" b="1" i="0">
                <a:solidFill>
                  <a:srgbClr val="E6685D"/>
                </a:solidFill>
              </a:rPr>
              <a:t>AVOID</a:t>
            </a:r>
          </a:p>
        </p:txBody>
      </p:sp>
      <p:sp>
        <p:nvSpPr>
          <p:cNvPr id="22" name="voice-bad">
            <a:extLst xmlns:a="http://schemas.openxmlformats.org/drawingml/2006/main">
              <a:ext uri="{FF2B5EF4-FFF2-40B4-BE49-F238E27FC236}">
                <a16:creationId xmlns:a16="http://schemas.microsoft.com/office/drawing/2014/main" id="{4ACF2B2E-1033-4704-9E57-B23DDEF3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C443E"/>
                </a:solidFill>
              </a:defRPr>
            </a:pPr>
            <a:r>
              <a:rPr sz="1425" b="1" i="0">
                <a:solidFill>
                  <a:srgbClr val="8C443E"/>
                </a:solidFill>
              </a:rPr>
              <a:t>Unlock next-generation intelligence and transform your manufacturing future.</a:t>
            </a:r>
          </a:p>
        </p:txBody>
      </p:sp>
    </p:spTree>
    <p:extLst>
      <p:ext uri="{BB962C8B-B14F-4D97-AF65-F5344CB8AC3E}">
        <p14:creationId xmlns:p14="http://schemas.microsoft.com/office/powerpoint/2010/main" val="3882834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12">
            <a:extLst xmlns:a="http://schemas.openxmlformats.org/drawingml/2006/main">
              <a:ext uri="{FF2B5EF4-FFF2-40B4-BE49-F238E27FC236}">
                <a16:creationId xmlns:a16="http://schemas.microsoft.com/office/drawing/2014/main" id="{E1BC34AD-D25B-4808-8430-3AFAC925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12">
            <a:extLst xmlns:a="http://schemas.openxmlformats.org/drawingml/2006/main">
              <a:ext uri="{FF2B5EF4-FFF2-40B4-BE49-F238E27FC236}">
                <a16:creationId xmlns:a16="http://schemas.microsoft.com/office/drawing/2014/main" id="{C1FB1DF3-1858-4126-9050-E371BF26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12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5C8F5390-7186-4CD8-8FC1-4052A6A8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Show real scale, stainless steel and operational context.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9DA4780F-1937-49A9-A482-D2456E52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Photography should make the plant tangible and the engineering work inspectable.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7cb3b45954803"/>
          <a:srcRect xmlns:a="http://schemas.openxmlformats.org/drawingml/2006/main" l="0" t="980" r="0" b="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526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6" name="photo-label-0">
            <a:extLst xmlns:a="http://schemas.openxmlformats.org/drawingml/2006/main">
              <a:ext uri="{FF2B5EF4-FFF2-40B4-BE49-F238E27FC236}">
                <a16:creationId xmlns:a16="http://schemas.microsoft.com/office/drawing/2014/main" id="{9ABD332D-BCFE-4759-8C73-81DB8038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63F5"/>
                </a:solidFill>
              </a:defRPr>
            </a:pPr>
            <a:r>
              <a:rPr sz="1050" b="1" i="0">
                <a:solidFill>
                  <a:srgbClr val="2F63F5"/>
                </a:solidFill>
              </a:rPr>
              <a:t>FACILITY CONTEXT</a:t>
            </a:r>
          </a:p>
        </p:txBody>
      </p:sp>
      <p:sp>
        <p:nvSpPr>
          <p:cNvPr id="7" name="photo-copy-0">
            <a:extLst xmlns:a="http://schemas.openxmlformats.org/drawingml/2006/main">
              <a:ext uri="{FF2B5EF4-FFF2-40B4-BE49-F238E27FC236}">
                <a16:creationId xmlns:a16="http://schemas.microsoft.com/office/drawing/2014/main" id="{779546E8-A847-47F7-A1A9-0AEDE480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77"/>
                </a:solidFill>
              </a:defRPr>
            </a:pPr>
            <a:r>
              <a:rPr sz="1275" b="0" i="0">
                <a:solidFill>
                  <a:srgbClr val="5D6D77"/>
                </a:solidFill>
              </a:rPr>
              <a:t>Reveal connected equipment, piping and operating scale.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26379ebb5487a"/>
          <a:srcRect xmlns:a="http://schemas.openxmlformats.org/drawingml/2006/main" l="0" t="980" r="0" b="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0050" y="21526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9" name="photo-label-1">
            <a:extLst xmlns:a="http://schemas.openxmlformats.org/drawingml/2006/main">
              <a:ext uri="{FF2B5EF4-FFF2-40B4-BE49-F238E27FC236}">
                <a16:creationId xmlns:a16="http://schemas.microsoft.com/office/drawing/2014/main" id="{8A98A294-1FB2-40D5-A773-F36A1A38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43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A8F83"/>
                </a:solidFill>
              </a:defRPr>
            </a:pPr>
            <a:r>
              <a:rPr sz="1050" b="1" i="0">
                <a:solidFill>
                  <a:srgbClr val="2A8F83"/>
                </a:solidFill>
              </a:rPr>
              <a:t>PROCESS DETAIL</a:t>
            </a:r>
          </a:p>
        </p:txBody>
      </p:sp>
      <p:sp>
        <p:nvSpPr>
          <p:cNvPr id="10" name="photo-copy-1">
            <a:extLst xmlns:a="http://schemas.openxmlformats.org/drawingml/2006/main">
              <a:ext uri="{FF2B5EF4-FFF2-40B4-BE49-F238E27FC236}">
                <a16:creationId xmlns:a16="http://schemas.microsoft.com/office/drawing/2014/main" id="{EB151D34-423D-4051-8859-BD3129FF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8635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77"/>
                </a:solidFill>
              </a:defRPr>
            </a:pPr>
            <a:r>
              <a:rPr sz="1275" b="0" i="0">
                <a:solidFill>
                  <a:srgbClr val="5D6D77"/>
                </a:solidFill>
              </a:rPr>
              <a:t>Show real vessels, utilities and access conditions.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82407d10f4ae0"/>
          <a:srcRect xmlns:a="http://schemas.openxmlformats.org/drawingml/2006/main" l="4667" t="0" r="4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1526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2" name="photo-label-2">
            <a:extLst xmlns:a="http://schemas.openxmlformats.org/drawingml/2006/main">
              <a:ext uri="{FF2B5EF4-FFF2-40B4-BE49-F238E27FC236}">
                <a16:creationId xmlns:a16="http://schemas.microsoft.com/office/drawing/2014/main" id="{4EBFE78A-19B1-47D1-8D1F-0A88E56C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43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63F5"/>
                </a:solidFill>
              </a:defRPr>
            </a:pPr>
            <a:r>
              <a:rPr sz="1050" b="1" i="0">
                <a:solidFill>
                  <a:srgbClr val="2F63F5"/>
                </a:solidFill>
              </a:rPr>
              <a:t>INDUSTRIAL FOOD</a:t>
            </a:r>
          </a:p>
        </p:txBody>
      </p:sp>
      <p:sp>
        <p:nvSpPr>
          <p:cNvPr id="13" name="photo-copy-2">
            <a:extLst xmlns:a="http://schemas.openxmlformats.org/drawingml/2006/main">
              <a:ext uri="{FF2B5EF4-FFF2-40B4-BE49-F238E27FC236}">
                <a16:creationId xmlns:a16="http://schemas.microsoft.com/office/drawing/2014/main" id="{0EDDB40E-6D7B-4264-A50D-0ADDDA4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8635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77"/>
                </a:solidFill>
              </a:defRPr>
            </a:pPr>
            <a:r>
              <a:rPr sz="1275" b="0" i="0">
                <a:solidFill>
                  <a:srgbClr val="5D6D77"/>
                </a:solidFill>
              </a:rPr>
              <a:t>Use credible food and fermentation environments.</a:t>
            </a:r>
          </a:p>
        </p:txBody>
      </p:sp>
      <p:sp>
        <p:nvSpPr>
          <p:cNvPr id="14" name="photo-rule">
            <a:extLst xmlns:a="http://schemas.openxmlformats.org/drawingml/2006/main">
              <a:ext uri="{FF2B5EF4-FFF2-40B4-BE49-F238E27FC236}">
                <a16:creationId xmlns:a16="http://schemas.microsoft.com/office/drawing/2014/main" id="{670E1ADA-DA1A-4E50-9BE4-4F36CDF4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6489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hoto-rule-copy">
            <a:extLst xmlns:a="http://schemas.openxmlformats.org/drawingml/2006/main">
              <a:ext uri="{FF2B5EF4-FFF2-40B4-BE49-F238E27FC236}">
                <a16:creationId xmlns:a16="http://schemas.microsoft.com/office/drawing/2014/main" id="{449D1732-22BD-41FE-910E-08876BFC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Use real facilities by default. Label concept visualizations clearly. Never imply customer endorsement.</a:t>
            </a:r>
          </a:p>
        </p:txBody>
      </p:sp>
    </p:spTree>
    <p:extLst>
      <p:ext uri="{BB962C8B-B14F-4D97-AF65-F5344CB8AC3E}">
        <p14:creationId xmlns:p14="http://schemas.microsoft.com/office/powerpoint/2010/main" val="281978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13">
            <a:extLst xmlns:a="http://schemas.openxmlformats.org/drawingml/2006/main">
              <a:ext uri="{FF2B5EF4-FFF2-40B4-BE49-F238E27FC236}">
                <a16:creationId xmlns:a16="http://schemas.microsoft.com/office/drawing/2014/main" id="{03D5FD7E-B3C2-4893-B48B-C0E6F765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13">
            <a:extLst xmlns:a="http://schemas.openxmlformats.org/drawingml/2006/main">
              <a:ext uri="{FF2B5EF4-FFF2-40B4-BE49-F238E27FC236}">
                <a16:creationId xmlns:a16="http://schemas.microsoft.com/office/drawing/2014/main" id="{BFFFF5A3-7D1F-4939-829C-44D6AAD9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13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29E58DBC-4661-4570-B6DA-DB3BB057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Motion reveals direction, sequence and state.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1E0D87BC-4032-4A68-9173-5A016BC5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Animation must explain the process. It should never compete with the model.</a:t>
            </a:r>
          </a:p>
        </p:txBody>
      </p:sp>
      <p:sp>
        <p:nvSpPr>
          <p:cNvPr id="5" name="motion-key-0">
            <a:extLst xmlns:a="http://schemas.openxmlformats.org/drawingml/2006/main">
              <a:ext uri="{FF2B5EF4-FFF2-40B4-BE49-F238E27FC236}">
                <a16:creationId xmlns:a16="http://schemas.microsoft.com/office/drawing/2014/main" id="{E8C7D4E3-B083-4E4A-85A0-D10C422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A8F83"/>
                </a:solidFill>
              </a:defRPr>
            </a:pPr>
            <a:r>
              <a:rPr sz="1350" b="1" i="0">
                <a:solidFill>
                  <a:srgbClr val="2A8F83"/>
                </a:solidFill>
              </a:rPr>
              <a:t>FLOW</a:t>
            </a:r>
          </a:p>
        </p:txBody>
      </p:sp>
      <p:sp>
        <p:nvSpPr>
          <p:cNvPr id="6" name="motion-time-0">
            <a:extLst xmlns:a="http://schemas.openxmlformats.org/drawingml/2006/main">
              <a:ext uri="{FF2B5EF4-FFF2-40B4-BE49-F238E27FC236}">
                <a16:creationId xmlns:a16="http://schemas.microsoft.com/office/drawing/2014/main" id="{DF3E38F9-D3BF-4B6D-B301-309FE634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47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1F33"/>
                </a:solidFill>
              </a:defRPr>
            </a:pPr>
            <a:r>
              <a:rPr sz="1350" b="0" i="0">
                <a:solidFill>
                  <a:srgbClr val="081F33"/>
                </a:solidFill>
              </a:rPr>
              <a:t>2.4 s loop</a:t>
            </a:r>
          </a:p>
        </p:txBody>
      </p:sp>
      <p:sp>
        <p:nvSpPr>
          <p:cNvPr id="7" name="motion-track-0">
            <a:extLst xmlns:a="http://schemas.openxmlformats.org/drawingml/2006/main">
              <a:ext uri="{FF2B5EF4-FFF2-40B4-BE49-F238E27FC236}">
                <a16:creationId xmlns:a16="http://schemas.microsoft.com/office/drawing/2014/main" id="{322BFC96-8388-44C6-A0C7-1AD14D6F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428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tion-progress-0">
            <a:extLst xmlns:a="http://schemas.openxmlformats.org/drawingml/2006/main">
              <a:ext uri="{FF2B5EF4-FFF2-40B4-BE49-F238E27FC236}">
                <a16:creationId xmlns:a16="http://schemas.microsoft.com/office/drawing/2014/main" id="{3B52F8ED-F773-4A8C-9E0F-B988C683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3143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tion-node-0">
            <a:extLst xmlns:a="http://schemas.openxmlformats.org/drawingml/2006/main">
              <a:ext uri="{FF2B5EF4-FFF2-40B4-BE49-F238E27FC236}">
                <a16:creationId xmlns:a16="http://schemas.microsoft.com/office/drawing/2014/main" id="{C57CA373-D46D-430C-843B-2F1B92AE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tion-copy-0">
            <a:extLst xmlns:a="http://schemas.openxmlformats.org/drawingml/2006/main">
              <a:ext uri="{FF2B5EF4-FFF2-40B4-BE49-F238E27FC236}">
                <a16:creationId xmlns:a16="http://schemas.microsoft.com/office/drawing/2014/main" id="{4F6AED77-34B8-4802-BB47-31F7EB75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77"/>
                </a:solidFill>
              </a:defRPr>
            </a:pPr>
            <a:r>
              <a:rPr sz="1275" b="0" i="0">
                <a:solidFill>
                  <a:srgbClr val="5D6D77"/>
                </a:solidFill>
              </a:rPr>
              <a:t>Continuous stream direction</a:t>
            </a:r>
          </a:p>
        </p:txBody>
      </p:sp>
      <p:sp>
        <p:nvSpPr>
          <p:cNvPr id="11" name="rule-64-308">
            <a:extLst xmlns:a="http://schemas.openxmlformats.org/drawingml/2006/main">
              <a:ext uri="{FF2B5EF4-FFF2-40B4-BE49-F238E27FC236}">
                <a16:creationId xmlns:a16="http://schemas.microsoft.com/office/drawing/2014/main" id="{23901318-13B4-4E1F-B4FC-0B3C1270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otion-key-1">
            <a:extLst xmlns:a="http://schemas.openxmlformats.org/drawingml/2006/main">
              <a:ext uri="{FF2B5EF4-FFF2-40B4-BE49-F238E27FC236}">
                <a16:creationId xmlns:a16="http://schemas.microsoft.com/office/drawing/2014/main" id="{D87A25EA-EE0D-42CE-BD50-AB7AB3A0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63F5"/>
                </a:solidFill>
              </a:defRPr>
            </a:pPr>
            <a:r>
              <a:rPr sz="1350" b="1" i="0">
                <a:solidFill>
                  <a:srgbClr val="2F63F5"/>
                </a:solidFill>
              </a:rPr>
              <a:t>STATE</a:t>
            </a:r>
          </a:p>
        </p:txBody>
      </p:sp>
      <p:sp>
        <p:nvSpPr>
          <p:cNvPr id="13" name="motion-time-1">
            <a:extLst xmlns:a="http://schemas.openxmlformats.org/drawingml/2006/main">
              <a:ext uri="{FF2B5EF4-FFF2-40B4-BE49-F238E27FC236}">
                <a16:creationId xmlns:a16="http://schemas.microsoft.com/office/drawing/2014/main" id="{4DA15E78-9255-4414-986D-742E2EED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09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1F33"/>
                </a:solidFill>
              </a:defRPr>
            </a:pPr>
            <a:r>
              <a:rPr sz="1350" b="0" i="0">
                <a:solidFill>
                  <a:srgbClr val="081F33"/>
                </a:solidFill>
              </a:rPr>
              <a:t>180–240 ms</a:t>
            </a:r>
          </a:p>
        </p:txBody>
      </p:sp>
      <p:sp>
        <p:nvSpPr>
          <p:cNvPr id="14" name="motion-track-1">
            <a:extLst xmlns:a="http://schemas.openxmlformats.org/drawingml/2006/main">
              <a:ext uri="{FF2B5EF4-FFF2-40B4-BE49-F238E27FC236}">
                <a16:creationId xmlns:a16="http://schemas.microsoft.com/office/drawing/2014/main" id="{76D5CAFE-EF2D-4853-B644-981FC490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428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tion-progress-1">
            <a:extLst xmlns:a="http://schemas.openxmlformats.org/drawingml/2006/main">
              <a:ext uri="{FF2B5EF4-FFF2-40B4-BE49-F238E27FC236}">
                <a16:creationId xmlns:a16="http://schemas.microsoft.com/office/drawing/2014/main" id="{C6A02A20-07B0-48C0-A509-F9AAA73D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2095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otion-node-1">
            <a:extLst xmlns:a="http://schemas.openxmlformats.org/drawingml/2006/main">
              <a:ext uri="{FF2B5EF4-FFF2-40B4-BE49-F238E27FC236}">
                <a16:creationId xmlns:a16="http://schemas.microsoft.com/office/drawing/2014/main" id="{B1C24986-090D-47D6-A84E-93C597D7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tion-copy-1">
            <a:extLst xmlns:a="http://schemas.openxmlformats.org/drawingml/2006/main">
              <a:ext uri="{FF2B5EF4-FFF2-40B4-BE49-F238E27FC236}">
                <a16:creationId xmlns:a16="http://schemas.microsoft.com/office/drawing/2014/main" id="{73F8C256-8A96-46D0-996E-FAA4D7EE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77"/>
                </a:solidFill>
              </a:defRPr>
            </a:pPr>
            <a:r>
              <a:rPr sz="1275" b="0" i="0">
                <a:solidFill>
                  <a:srgbClr val="5D6D77"/>
                </a:solidFill>
              </a:rPr>
              <a:t>Selection, open and close</a:t>
            </a:r>
          </a:p>
        </p:txBody>
      </p:sp>
      <p:sp>
        <p:nvSpPr>
          <p:cNvPr id="18" name="rule-64-430">
            <a:extLst xmlns:a="http://schemas.openxmlformats.org/drawingml/2006/main">
              <a:ext uri="{FF2B5EF4-FFF2-40B4-BE49-F238E27FC236}">
                <a16:creationId xmlns:a16="http://schemas.microsoft.com/office/drawing/2014/main" id="{61510146-86B1-4D29-889F-17938AFB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otion-key-2">
            <a:extLst xmlns:a="http://schemas.openxmlformats.org/drawingml/2006/main">
              <a:ext uri="{FF2B5EF4-FFF2-40B4-BE49-F238E27FC236}">
                <a16:creationId xmlns:a16="http://schemas.microsoft.com/office/drawing/2014/main" id="{41974842-85C5-4C64-9F1F-4B67050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B942"/>
                </a:solidFill>
              </a:defRPr>
            </a:pPr>
            <a:r>
              <a:rPr sz="1350" b="1" i="0">
                <a:solidFill>
                  <a:srgbClr val="F4B942"/>
                </a:solidFill>
              </a:rPr>
              <a:t>ALERT</a:t>
            </a:r>
          </a:p>
        </p:txBody>
      </p:sp>
      <p:sp>
        <p:nvSpPr>
          <p:cNvPr id="20" name="motion-time-2">
            <a:extLst xmlns:a="http://schemas.openxmlformats.org/drawingml/2006/main">
              <a:ext uri="{FF2B5EF4-FFF2-40B4-BE49-F238E27FC236}">
                <a16:creationId xmlns:a16="http://schemas.microsoft.com/office/drawing/2014/main" id="{3FBFF6EA-25B9-4E90-B95A-F91E1F7E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72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1F33"/>
                </a:solidFill>
              </a:defRPr>
            </a:pPr>
            <a:r>
              <a:rPr sz="1350" b="0" i="0">
                <a:solidFill>
                  <a:srgbClr val="081F33"/>
                </a:solidFill>
              </a:rPr>
              <a:t>One pulse</a:t>
            </a:r>
          </a:p>
        </p:txBody>
      </p:sp>
      <p:sp>
        <p:nvSpPr>
          <p:cNvPr id="21" name="motion-track-2">
            <a:extLst xmlns:a="http://schemas.openxmlformats.org/drawingml/2006/main">
              <a:ext uri="{FF2B5EF4-FFF2-40B4-BE49-F238E27FC236}">
                <a16:creationId xmlns:a16="http://schemas.microsoft.com/office/drawing/2014/main" id="{425D8CDE-BF59-4487-9D87-3B953934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428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otion-progress-2">
            <a:extLst xmlns:a="http://schemas.openxmlformats.org/drawingml/2006/main">
              <a:ext uri="{FF2B5EF4-FFF2-40B4-BE49-F238E27FC236}">
                <a16:creationId xmlns:a16="http://schemas.microsoft.com/office/drawing/2014/main" id="{47057ADF-18AE-4943-8F26-6554BE0E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1047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otion-node-2">
            <a:extLst xmlns:a="http://schemas.openxmlformats.org/drawingml/2006/main">
              <a:ext uri="{FF2B5EF4-FFF2-40B4-BE49-F238E27FC236}">
                <a16:creationId xmlns:a16="http://schemas.microsoft.com/office/drawing/2014/main" id="{016B8B81-F36F-4C90-8542-B4A18A71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otion-copy-2">
            <a:extLst xmlns:a="http://schemas.openxmlformats.org/drawingml/2006/main">
              <a:ext uri="{FF2B5EF4-FFF2-40B4-BE49-F238E27FC236}">
                <a16:creationId xmlns:a16="http://schemas.microsoft.com/office/drawing/2014/main" id="{3170DB22-4073-4F4D-BBA1-DA67385C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77"/>
                </a:solidFill>
              </a:defRPr>
            </a:pPr>
            <a:r>
              <a:rPr sz="1275" b="0" i="0">
                <a:solidFill>
                  <a:srgbClr val="5D6D77"/>
                </a:solidFill>
              </a:rPr>
              <a:t>A new warning or completed run</a:t>
            </a:r>
          </a:p>
        </p:txBody>
      </p:sp>
      <p:sp>
        <p:nvSpPr>
          <p:cNvPr id="25" name="rule-64-552">
            <a:extLst xmlns:a="http://schemas.openxmlformats.org/drawingml/2006/main">
              <a:ext uri="{FF2B5EF4-FFF2-40B4-BE49-F238E27FC236}">
                <a16:creationId xmlns:a16="http://schemas.microsoft.com/office/drawing/2014/main" id="{B6331675-BB8B-4B40-B696-CDFEFE5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otion-accessibility">
            <a:extLst xmlns:a="http://schemas.openxmlformats.org/drawingml/2006/main">
              <a:ext uri="{FF2B5EF4-FFF2-40B4-BE49-F238E27FC236}">
                <a16:creationId xmlns:a16="http://schemas.microsoft.com/office/drawing/2014/main" id="{4275DFA9-8E21-4795-ABF0-70999C1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57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otion-reduced">
            <a:extLst xmlns:a="http://schemas.openxmlformats.org/drawingml/2006/main">
              <a:ext uri="{FF2B5EF4-FFF2-40B4-BE49-F238E27FC236}">
                <a16:creationId xmlns:a16="http://schemas.microsoft.com/office/drawing/2014/main" id="{2E50DD96-A8FA-4A92-9C6F-97928DBF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Reduced motion</a:t>
            </a:r>
          </a:p>
        </p:txBody>
      </p:sp>
      <p:sp>
        <p:nvSpPr>
          <p:cNvPr id="28" name="motion-reduced-copy">
            <a:extLst xmlns:a="http://schemas.openxmlformats.org/drawingml/2006/main">
              <a:ext uri="{FF2B5EF4-FFF2-40B4-BE49-F238E27FC236}">
                <a16:creationId xmlns:a16="http://schemas.microsoft.com/office/drawing/2014/main" id="{7399D516-4D2C-43E3-849C-9B1B17C1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62625"/>
            <a:ext cx="803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6DF"/>
                </a:solidFill>
              </a:defRPr>
            </a:pPr>
            <a:r>
              <a:rPr sz="1275" b="0" i="0">
                <a:solidFill>
                  <a:srgbClr val="C8D6DF"/>
                </a:solidFill>
              </a:rPr>
              <a:t>Pause continuous movement and preserve direction with arrows, labels and state text.</a:t>
            </a:r>
          </a:p>
        </p:txBody>
      </p:sp>
    </p:spTree>
    <p:extLst>
      <p:ext uri="{BB962C8B-B14F-4D97-AF65-F5344CB8AC3E}">
        <p14:creationId xmlns:p14="http://schemas.microsoft.com/office/powerpoint/2010/main" val="4603820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14">
            <a:extLst xmlns:a="http://schemas.openxmlformats.org/drawingml/2006/main">
              <a:ext uri="{FF2B5EF4-FFF2-40B4-BE49-F238E27FC236}">
                <a16:creationId xmlns:a16="http://schemas.microsoft.com/office/drawing/2014/main" id="{B9C54FBE-8DEA-4C67-A07E-EA4E117A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14">
            <a:extLst xmlns:a="http://schemas.openxmlformats.org/drawingml/2006/main">
              <a:ext uri="{FF2B5EF4-FFF2-40B4-BE49-F238E27FC236}">
                <a16:creationId xmlns:a16="http://schemas.microsoft.com/office/drawing/2014/main" id="{8BDFCC88-9806-4711-80E7-F4BB0165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14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EA19D3AF-1B78-44CD-9A26-82E7B978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Contrast is part of technical accuracy.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D4924802-1507-471D-A0F8-BEE43A61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Every state must remain understandable without relying on color alone.</a:t>
            </a:r>
          </a:p>
        </p:txBody>
      </p:sp>
      <p:sp>
        <p:nvSpPr>
          <p:cNvPr id="5" name="contrast-0">
            <a:extLst xmlns:a="http://schemas.openxmlformats.org/drawingml/2006/main">
              <a:ext uri="{FF2B5EF4-FFF2-40B4-BE49-F238E27FC236}">
                <a16:creationId xmlns:a16="http://schemas.microsoft.com/office/drawing/2014/main" id="{906C81AE-4218-4A01-ACED-7B21B97C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885950" cy="2171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trast-aa-0">
            <a:extLst xmlns:a="http://schemas.openxmlformats.org/drawingml/2006/main">
              <a:ext uri="{FF2B5EF4-FFF2-40B4-BE49-F238E27FC236}">
                <a16:creationId xmlns:a16="http://schemas.microsoft.com/office/drawing/2014/main" id="{7A44238D-07AE-4F63-812C-FD91A67D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7" name="contrast-label-0">
            <a:extLst xmlns:a="http://schemas.openxmlformats.org/drawingml/2006/main">
              <a:ext uri="{FF2B5EF4-FFF2-40B4-BE49-F238E27FC236}">
                <a16:creationId xmlns:a16="http://schemas.microsoft.com/office/drawing/2014/main" id="{03E35038-0C3F-4D86-8E40-1F4753BE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WHITE / NAVY</a:t>
            </a:r>
          </a:p>
        </p:txBody>
      </p:sp>
      <p:sp>
        <p:nvSpPr>
          <p:cNvPr id="8" name="contrast-copy-0">
            <a:extLst xmlns:a="http://schemas.openxmlformats.org/drawingml/2006/main">
              <a:ext uri="{FF2B5EF4-FFF2-40B4-BE49-F238E27FC236}">
                <a16:creationId xmlns:a16="http://schemas.microsoft.com/office/drawing/2014/main" id="{FA191BC5-DEF0-4784-A206-A3ECD704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Primary dark surfaces</a:t>
            </a:r>
          </a:p>
        </p:txBody>
      </p:sp>
      <p:sp>
        <p:nvSpPr>
          <p:cNvPr id="9" name="contrast-1">
            <a:extLst xmlns:a="http://schemas.openxmlformats.org/drawingml/2006/main">
              <a:ext uri="{FF2B5EF4-FFF2-40B4-BE49-F238E27FC236}">
                <a16:creationId xmlns:a16="http://schemas.microsoft.com/office/drawing/2014/main" id="{39D740A1-D2AE-4C33-B195-F6D7967F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71700"/>
            <a:ext cx="1885950" cy="2171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0" name="contrast-aa-1">
            <a:extLst xmlns:a="http://schemas.openxmlformats.org/drawingml/2006/main">
              <a:ext uri="{FF2B5EF4-FFF2-40B4-BE49-F238E27FC236}">
                <a16:creationId xmlns:a16="http://schemas.microsoft.com/office/drawing/2014/main" id="{6C47CF30-C718-4BE4-AB88-00726DB6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081F33"/>
                </a:solidFill>
              </a:defRPr>
            </a:pPr>
            <a:r>
              <a:rPr sz="3900" b="1" i="0">
                <a:solidFill>
                  <a:srgbClr val="081F33"/>
                </a:solidFill>
              </a:rPr>
              <a:t>Aa</a:t>
            </a:r>
          </a:p>
        </p:txBody>
      </p:sp>
      <p:sp>
        <p:nvSpPr>
          <p:cNvPr id="11" name="contrast-label-1">
            <a:extLst xmlns:a="http://schemas.openxmlformats.org/drawingml/2006/main">
              <a:ext uri="{FF2B5EF4-FFF2-40B4-BE49-F238E27FC236}">
                <a16:creationId xmlns:a16="http://schemas.microsoft.com/office/drawing/2014/main" id="{E44FC15F-2BBC-4900-BF9E-EA34E272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62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81F33"/>
                </a:solidFill>
              </a:defRPr>
            </a:pPr>
            <a:r>
              <a:rPr sz="900" b="1" i="0">
                <a:solidFill>
                  <a:srgbClr val="081F33"/>
                </a:solidFill>
              </a:rPr>
              <a:t>NAVY / ICE</a:t>
            </a:r>
          </a:p>
        </p:txBody>
      </p:sp>
      <p:sp>
        <p:nvSpPr>
          <p:cNvPr id="12" name="contrast-copy-1">
            <a:extLst xmlns:a="http://schemas.openxmlformats.org/drawingml/2006/main">
              <a:ext uri="{FF2B5EF4-FFF2-40B4-BE49-F238E27FC236}">
                <a16:creationId xmlns:a16="http://schemas.microsoft.com/office/drawing/2014/main" id="{712572E6-63B7-4854-B2C2-167971D0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148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Main reading surfaces</a:t>
            </a:r>
          </a:p>
        </p:txBody>
      </p:sp>
      <p:sp>
        <p:nvSpPr>
          <p:cNvPr id="13" name="contrast-2">
            <a:extLst xmlns:a="http://schemas.openxmlformats.org/drawingml/2006/main">
              <a:ext uri="{FF2B5EF4-FFF2-40B4-BE49-F238E27FC236}">
                <a16:creationId xmlns:a16="http://schemas.microsoft.com/office/drawing/2014/main" id="{EDA92913-DC8F-4EE7-B2D4-D326A42A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1885950" cy="2171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trast-aa-2">
            <a:extLst xmlns:a="http://schemas.openxmlformats.org/drawingml/2006/main">
              <a:ext uri="{FF2B5EF4-FFF2-40B4-BE49-F238E27FC236}">
                <a16:creationId xmlns:a16="http://schemas.microsoft.com/office/drawing/2014/main" id="{2C6D9209-1995-4D4D-9827-C320BF83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15" name="contrast-label-2">
            <a:extLst xmlns:a="http://schemas.openxmlformats.org/drawingml/2006/main">
              <a:ext uri="{FF2B5EF4-FFF2-40B4-BE49-F238E27FC236}">
                <a16:creationId xmlns:a16="http://schemas.microsoft.com/office/drawing/2014/main" id="{CA89AD58-01C2-42B0-9409-84E28FE5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WHITE / BLUE</a:t>
            </a:r>
          </a:p>
        </p:txBody>
      </p:sp>
      <p:sp>
        <p:nvSpPr>
          <p:cNvPr id="16" name="contrast-copy-2">
            <a:extLst xmlns:a="http://schemas.openxmlformats.org/drawingml/2006/main">
              <a:ext uri="{FF2B5EF4-FFF2-40B4-BE49-F238E27FC236}">
                <a16:creationId xmlns:a16="http://schemas.microsoft.com/office/drawing/2014/main" id="{CF4278CF-D0E9-4931-BB0F-D94D396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148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Primary actions</a:t>
            </a:r>
          </a:p>
        </p:txBody>
      </p:sp>
      <p:sp>
        <p:nvSpPr>
          <p:cNvPr id="17" name="contrast-3">
            <a:extLst xmlns:a="http://schemas.openxmlformats.org/drawingml/2006/main">
              <a:ext uri="{FF2B5EF4-FFF2-40B4-BE49-F238E27FC236}">
                <a16:creationId xmlns:a16="http://schemas.microsoft.com/office/drawing/2014/main" id="{7B48DD90-1253-4450-9167-1856278E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1885950" cy="2171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rast-aa-3">
            <a:extLst xmlns:a="http://schemas.openxmlformats.org/drawingml/2006/main">
              <a:ext uri="{FF2B5EF4-FFF2-40B4-BE49-F238E27FC236}">
                <a16:creationId xmlns:a16="http://schemas.microsoft.com/office/drawing/2014/main" id="{37487791-76A9-4274-BE1B-63400A1B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081F33"/>
                </a:solidFill>
              </a:defRPr>
            </a:pPr>
            <a:r>
              <a:rPr sz="3900" b="1" i="0">
                <a:solidFill>
                  <a:srgbClr val="081F33"/>
                </a:solidFill>
              </a:rPr>
              <a:t>Aa</a:t>
            </a:r>
          </a:p>
        </p:txBody>
      </p:sp>
      <p:sp>
        <p:nvSpPr>
          <p:cNvPr id="19" name="contrast-label-3">
            <a:extLst xmlns:a="http://schemas.openxmlformats.org/drawingml/2006/main">
              <a:ext uri="{FF2B5EF4-FFF2-40B4-BE49-F238E27FC236}">
                <a16:creationId xmlns:a16="http://schemas.microsoft.com/office/drawing/2014/main" id="{21DE4F01-F487-4BAC-857D-9CC0E96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81F33"/>
                </a:solidFill>
              </a:defRPr>
            </a:pPr>
            <a:r>
              <a:rPr sz="900" b="1" i="0">
                <a:solidFill>
                  <a:srgbClr val="081F33"/>
                </a:solidFill>
              </a:rPr>
              <a:t>NAVY / SOFT TEAL</a:t>
            </a:r>
          </a:p>
        </p:txBody>
      </p:sp>
      <p:sp>
        <p:nvSpPr>
          <p:cNvPr id="20" name="contrast-copy-3">
            <a:extLst xmlns:a="http://schemas.openxmlformats.org/drawingml/2006/main">
              <a:ext uri="{FF2B5EF4-FFF2-40B4-BE49-F238E27FC236}">
                <a16:creationId xmlns:a16="http://schemas.microsoft.com/office/drawing/2014/main" id="{D4E5BB08-99E1-4369-A434-CA073C30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Validated evidence</a:t>
            </a:r>
          </a:p>
        </p:txBody>
      </p:sp>
      <p:sp>
        <p:nvSpPr>
          <p:cNvPr id="21" name="contrast-4">
            <a:extLst xmlns:a="http://schemas.openxmlformats.org/drawingml/2006/main">
              <a:ext uri="{FF2B5EF4-FFF2-40B4-BE49-F238E27FC236}">
                <a16:creationId xmlns:a16="http://schemas.microsoft.com/office/drawing/2014/main" id="{3DE50385-3458-489B-A749-5A4CB2AC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1885950" cy="21717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ntrast-aa-4">
            <a:extLst xmlns:a="http://schemas.openxmlformats.org/drawingml/2006/main">
              <a:ext uri="{FF2B5EF4-FFF2-40B4-BE49-F238E27FC236}">
                <a16:creationId xmlns:a16="http://schemas.microsoft.com/office/drawing/2014/main" id="{899336B7-F1CA-4458-A65A-84E98774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081F33"/>
                </a:solidFill>
              </a:defRPr>
            </a:pPr>
            <a:r>
              <a:rPr sz="3900" b="1" i="0">
                <a:solidFill>
                  <a:srgbClr val="081F33"/>
                </a:solidFill>
              </a:rPr>
              <a:t>Aa</a:t>
            </a:r>
          </a:p>
        </p:txBody>
      </p:sp>
      <p:sp>
        <p:nvSpPr>
          <p:cNvPr id="23" name="contrast-label-4">
            <a:extLst xmlns:a="http://schemas.openxmlformats.org/drawingml/2006/main">
              <a:ext uri="{FF2B5EF4-FFF2-40B4-BE49-F238E27FC236}">
                <a16:creationId xmlns:a16="http://schemas.microsoft.com/office/drawing/2014/main" id="{C33A1F8D-C2BA-4B29-8AD5-B0E6717C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62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81F33"/>
                </a:solidFill>
              </a:defRPr>
            </a:pPr>
            <a:r>
              <a:rPr sz="900" b="1" i="0">
                <a:solidFill>
                  <a:srgbClr val="081F33"/>
                </a:solidFill>
              </a:rPr>
              <a:t>NAVY / AMBER</a:t>
            </a:r>
          </a:p>
        </p:txBody>
      </p:sp>
      <p:sp>
        <p:nvSpPr>
          <p:cNvPr id="24" name="contrast-copy-4">
            <a:extLst xmlns:a="http://schemas.openxmlformats.org/drawingml/2006/main">
              <a:ext uri="{FF2B5EF4-FFF2-40B4-BE49-F238E27FC236}">
                <a16:creationId xmlns:a16="http://schemas.microsoft.com/office/drawing/2014/main" id="{3EA752A9-DA04-44A0-A148-623E0E96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148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D6D77"/>
                </a:solidFill>
              </a:defRPr>
            </a:pPr>
            <a:r>
              <a:rPr sz="1125" b="0" i="0">
                <a:solidFill>
                  <a:srgbClr val="5D6D77"/>
                </a:solidFill>
              </a:rPr>
              <a:t>Warnings and active runs</a:t>
            </a:r>
          </a:p>
        </p:txBody>
      </p:sp>
      <p:sp>
        <p:nvSpPr>
          <p:cNvPr id="25" name="accessibility-rule">
            <a:extLst xmlns:a="http://schemas.openxmlformats.org/drawingml/2006/main">
              <a:ext uri="{FF2B5EF4-FFF2-40B4-BE49-F238E27FC236}">
                <a16:creationId xmlns:a16="http://schemas.microsoft.com/office/drawing/2014/main" id="{BCAB465E-404B-4D6D-9C63-0E9D3308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572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ccessibility-head">
            <a:extLst xmlns:a="http://schemas.openxmlformats.org/drawingml/2006/main">
              <a:ext uri="{FF2B5EF4-FFF2-40B4-BE49-F238E27FC236}">
                <a16:creationId xmlns:a16="http://schemas.microsoft.com/office/drawing/2014/main" id="{1FF4C7AF-9542-405A-94E9-089B40B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Never use color alone</a:t>
            </a:r>
          </a:p>
        </p:txBody>
      </p:sp>
      <p:sp>
        <p:nvSpPr>
          <p:cNvPr id="27" name="accessibility-copy">
            <a:extLst xmlns:a="http://schemas.openxmlformats.org/drawingml/2006/main">
              <a:ext uri="{FF2B5EF4-FFF2-40B4-BE49-F238E27FC236}">
                <a16:creationId xmlns:a16="http://schemas.microsoft.com/office/drawing/2014/main" id="{6796B331-D520-422C-90A9-6F593A43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673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6DF"/>
                </a:solidFill>
              </a:defRPr>
            </a:pPr>
            <a:r>
              <a:rPr sz="1275" b="0" i="0">
                <a:solidFill>
                  <a:srgbClr val="C8D6DF"/>
                </a:solidFill>
              </a:rPr>
              <a:t>Pair every status color with a label, icon, pattern or numerical state. Verify contrast before release.</a:t>
            </a:r>
          </a:p>
        </p:txBody>
      </p:sp>
    </p:spTree>
    <p:extLst>
      <p:ext uri="{BB962C8B-B14F-4D97-AF65-F5344CB8AC3E}">
        <p14:creationId xmlns:p14="http://schemas.microsoft.com/office/powerpoint/2010/main" val="578232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rand-15">
            <a:extLst xmlns:a="http://schemas.openxmlformats.org/drawingml/2006/main">
              <a:ext uri="{FF2B5EF4-FFF2-40B4-BE49-F238E27FC236}">
                <a16:creationId xmlns:a16="http://schemas.microsoft.com/office/drawing/2014/main" id="{A86D0954-C867-49C9-8D1D-52B8BB84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1F33"/>
                </a:solidFill>
              </a:defRPr>
            </a:pPr>
            <a:r>
              <a:rPr sz="1050" b="1" i="0">
                <a:solidFill>
                  <a:srgbClr val="081F33"/>
                </a:solidFill>
              </a:rPr>
              <a:t>AXION PROCESS OS</a:t>
            </a:r>
          </a:p>
        </p:txBody>
      </p:sp>
      <p:sp>
        <p:nvSpPr>
          <p:cNvPr id="2" name="page-15">
            <a:extLst xmlns:a="http://schemas.openxmlformats.org/drawingml/2006/main">
              <a:ext uri="{FF2B5EF4-FFF2-40B4-BE49-F238E27FC236}">
                <a16:creationId xmlns:a16="http://schemas.microsoft.com/office/drawing/2014/main" id="{ACB1DC06-4734-46CB-92DB-E6E3553F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6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D6D77"/>
                </a:solidFill>
              </a:defRPr>
            </a:pPr>
            <a:r>
              <a:rPr sz="900" b="0" i="0">
                <a:solidFill>
                  <a:srgbClr val="5D6D77"/>
                </a:solidFill>
              </a:rPr>
              <a:t>CI / 15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2295F305-F350-4A26-AD9B-10F2E5D1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81F33"/>
                </a:solidFill>
              </a:defRPr>
            </a:pPr>
            <a:r>
              <a:rPr sz="3000" b="1" i="0">
                <a:solidFill>
                  <a:srgbClr val="081F33"/>
                </a:solidFill>
              </a:rPr>
              <a:t>Keep Axion distinct in every partnership.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6207BB2D-E0A6-4A63-BF58-D2750310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D77"/>
                </a:solidFill>
              </a:defRPr>
            </a:pPr>
            <a:r>
              <a:rPr sz="1350" b="0" i="0">
                <a:solidFill>
                  <a:srgbClr val="5D6D77"/>
                </a:solidFill>
              </a:rPr>
              <a:t>Never merge marks. Use spacing, a divider and clear ownership of the communication.</a:t>
            </a:r>
          </a:p>
        </p:txBody>
      </p:sp>
      <p:sp>
        <p:nvSpPr>
          <p:cNvPr id="5" name="cobrand-lockup">
            <a:extLst xmlns:a="http://schemas.openxmlformats.org/drawingml/2006/main">
              <a:ext uri="{FF2B5EF4-FFF2-40B4-BE49-F238E27FC236}">
                <a16:creationId xmlns:a16="http://schemas.microsoft.com/office/drawing/2014/main" id="{5826E0C9-BF44-4F9C-A3B3-7D73D744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10810eef645b0"/>
          <a:stretch xmlns:a="http://schemas.openxmlformats.org/drawingml/2006/main"/>
        </p:blipFill>
        <p:spPr>
          <a:xfrm xmlns:a="http://schemas.openxmlformats.org/drawingml/2006/main">
            <a:off x="982266" y="2457450"/>
            <a:ext cx="3083719" cy="704850"/>
          </a:xfrm>
          <a:prstGeom xmlns:a="http://schemas.openxmlformats.org/drawingml/2006/main" prst="rect">
            <a:avLst/>
          </a:prstGeom>
        </p:spPr>
      </p:pic>
      <p:sp>
        <p:nvSpPr>
          <p:cNvPr id="7" name="cobrand-divider">
            <a:extLst xmlns:a="http://schemas.openxmlformats.org/drawingml/2006/main">
              <a:ext uri="{FF2B5EF4-FFF2-40B4-BE49-F238E27FC236}">
                <a16:creationId xmlns:a16="http://schemas.microsoft.com/office/drawing/2014/main" id="{E5E6D9FF-C738-4E2D-BAEE-A346C2A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rtner-mark">
            <a:extLst xmlns:a="http://schemas.openxmlformats.org/drawingml/2006/main">
              <a:ext uri="{FF2B5EF4-FFF2-40B4-BE49-F238E27FC236}">
                <a16:creationId xmlns:a16="http://schemas.microsoft.com/office/drawing/2014/main" id="{037C8B4B-D88D-4507-BD25-8B787A39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11049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9" name="partner-copy">
            <a:extLst xmlns:a="http://schemas.openxmlformats.org/drawingml/2006/main">
              <a:ext uri="{FF2B5EF4-FFF2-40B4-BE49-F238E27FC236}">
                <a16:creationId xmlns:a16="http://schemas.microsoft.com/office/drawing/2014/main" id="{A4F3FDE0-8424-4068-9356-15E85DC9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D6D77"/>
                </a:solidFill>
              </a:defRPr>
            </a:pPr>
            <a:r>
              <a:rPr sz="1125" b="1" i="0">
                <a:solidFill>
                  <a:srgbClr val="5D6D77"/>
                </a:solidFill>
              </a:rPr>
              <a:t>PARTNER</a:t>
            </a:r>
          </a:p>
        </p:txBody>
      </p:sp>
      <p:sp>
        <p:nvSpPr>
          <p:cNvPr id="10" name="cobrand-rule">
            <a:extLst xmlns:a="http://schemas.openxmlformats.org/drawingml/2006/main">
              <a:ext uri="{FF2B5EF4-FFF2-40B4-BE49-F238E27FC236}">
                <a16:creationId xmlns:a16="http://schemas.microsoft.com/office/drawing/2014/main" id="{2474DAAF-48BC-420B-81B2-4936700B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D77"/>
                </a:solidFill>
              </a:defRPr>
            </a:pPr>
            <a:r>
              <a:rPr sz="1275" b="0" i="0">
                <a:solidFill>
                  <a:srgbClr val="5D6D77"/>
                </a:solidFill>
              </a:rPr>
              <a:t>Equal visual weight is allowed only for genuinely joint work.</a:t>
            </a:r>
          </a:p>
        </p:txBody>
      </p:sp>
      <p:sp>
        <p:nvSpPr>
          <p:cNvPr id="11" name="template-system">
            <a:extLst xmlns:a="http://schemas.openxmlformats.org/drawingml/2006/main">
              <a:ext uri="{FF2B5EF4-FFF2-40B4-BE49-F238E27FC236}">
                <a16:creationId xmlns:a16="http://schemas.microsoft.com/office/drawing/2014/main" id="{392D24B9-528D-4B0F-9DAE-7559D44C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63F5"/>
                </a:solidFill>
              </a:defRPr>
            </a:pPr>
            <a:r>
              <a:rPr sz="1050" b="1" i="0">
                <a:solidFill>
                  <a:srgbClr val="2F63F5"/>
                </a:solidFill>
              </a:rPr>
              <a:t>TEMPLATE SYSTEM</a:t>
            </a:r>
          </a:p>
        </p:txBody>
      </p:sp>
      <p:sp>
        <p:nvSpPr>
          <p:cNvPr id="12" name="template-0">
            <a:extLst xmlns:a="http://schemas.openxmlformats.org/drawingml/2006/main">
              <a:ext uri="{FF2B5EF4-FFF2-40B4-BE49-F238E27FC236}">
                <a16:creationId xmlns:a16="http://schemas.microsoft.com/office/drawing/2014/main" id="{7B619A80-0CEB-4462-AC52-A500424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238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3" name="template-rail-0">
            <a:extLst xmlns:a="http://schemas.openxmlformats.org/drawingml/2006/main">
              <a:ext uri="{FF2B5EF4-FFF2-40B4-BE49-F238E27FC236}">
                <a16:creationId xmlns:a16="http://schemas.microsoft.com/office/drawing/2014/main" id="{FFBC5F35-AC56-43AA-BC4E-FD6EE9BC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9525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-head-0">
            <a:extLst xmlns:a="http://schemas.openxmlformats.org/drawingml/2006/main">
              <a:ext uri="{FF2B5EF4-FFF2-40B4-BE49-F238E27FC236}">
                <a16:creationId xmlns:a16="http://schemas.microsoft.com/office/drawing/2014/main" id="{1C6ADFBC-CFA8-471E-A577-8ED922FA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REPORTS</a:t>
            </a:r>
          </a:p>
        </p:txBody>
      </p:sp>
      <p:sp>
        <p:nvSpPr>
          <p:cNvPr id="15" name="template-copy-0">
            <a:extLst xmlns:a="http://schemas.openxmlformats.org/drawingml/2006/main">
              <a:ext uri="{FF2B5EF4-FFF2-40B4-BE49-F238E27FC236}">
                <a16:creationId xmlns:a16="http://schemas.microsoft.com/office/drawing/2014/main" id="{EA50ADC1-E320-42BA-AFF3-2300EEF1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77"/>
                </a:solidFill>
              </a:defRPr>
            </a:pPr>
            <a:r>
              <a:rPr sz="1200" b="0" i="0">
                <a:solidFill>
                  <a:srgbClr val="5D6D77"/>
                </a:solidFill>
              </a:rPr>
              <a:t>Logo top-left · title · model ID · date</a:t>
            </a:r>
          </a:p>
        </p:txBody>
      </p:sp>
      <p:sp>
        <p:nvSpPr>
          <p:cNvPr id="16" name="template-1">
            <a:extLst xmlns:a="http://schemas.openxmlformats.org/drawingml/2006/main">
              <a:ext uri="{FF2B5EF4-FFF2-40B4-BE49-F238E27FC236}">
                <a16:creationId xmlns:a16="http://schemas.microsoft.com/office/drawing/2014/main" id="{65094A9C-9239-4EDE-99B4-DF490A8A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00550"/>
            <a:ext cx="3238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7" name="template-rail-1">
            <a:extLst xmlns:a="http://schemas.openxmlformats.org/drawingml/2006/main">
              <a:ext uri="{FF2B5EF4-FFF2-40B4-BE49-F238E27FC236}">
                <a16:creationId xmlns:a16="http://schemas.microsoft.com/office/drawing/2014/main" id="{689BFC28-F8FE-443C-9589-335A8250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00550"/>
            <a:ext cx="9525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mplate-head-1">
            <a:extLst xmlns:a="http://schemas.openxmlformats.org/drawingml/2006/main">
              <a:ext uri="{FF2B5EF4-FFF2-40B4-BE49-F238E27FC236}">
                <a16:creationId xmlns:a16="http://schemas.microsoft.com/office/drawing/2014/main" id="{4E3464FE-4B4F-4AEF-AC23-EB135C21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SLIDES</a:t>
            </a:r>
          </a:p>
        </p:txBody>
      </p:sp>
      <p:sp>
        <p:nvSpPr>
          <p:cNvPr id="19" name="template-copy-1">
            <a:extLst xmlns:a="http://schemas.openxmlformats.org/drawingml/2006/main">
              <a:ext uri="{FF2B5EF4-FFF2-40B4-BE49-F238E27FC236}">
                <a16:creationId xmlns:a16="http://schemas.microsoft.com/office/drawing/2014/main" id="{B5F8BFBE-2A1D-42FC-B454-D0981BC9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863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77"/>
                </a:solidFill>
              </a:defRPr>
            </a:pPr>
            <a:r>
              <a:rPr sz="1200" b="0" i="0">
                <a:solidFill>
                  <a:srgbClr val="5D6D77"/>
                </a:solidFill>
              </a:rPr>
              <a:t>One claim · one composition · source notes</a:t>
            </a:r>
          </a:p>
        </p:txBody>
      </p:sp>
      <p:sp>
        <p:nvSpPr>
          <p:cNvPr id="20" name="template-2">
            <a:extLst xmlns:a="http://schemas.openxmlformats.org/drawingml/2006/main">
              <a:ext uri="{FF2B5EF4-FFF2-40B4-BE49-F238E27FC236}">
                <a16:creationId xmlns:a16="http://schemas.microsoft.com/office/drawing/2014/main" id="{B0EFD970-268F-4CD8-BA65-CC7B100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3238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1" name="template-rail-2">
            <a:extLst xmlns:a="http://schemas.openxmlformats.org/drawingml/2006/main">
              <a:ext uri="{FF2B5EF4-FFF2-40B4-BE49-F238E27FC236}">
                <a16:creationId xmlns:a16="http://schemas.microsoft.com/office/drawing/2014/main" id="{AE73A7DC-BFDC-4413-97C1-6A034E55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9525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mplate-head-2">
            <a:extLst xmlns:a="http://schemas.openxmlformats.org/drawingml/2006/main">
              <a:ext uri="{FF2B5EF4-FFF2-40B4-BE49-F238E27FC236}">
                <a16:creationId xmlns:a16="http://schemas.microsoft.com/office/drawing/2014/main" id="{1BA1A40C-7AE7-406B-B717-463B1676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29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F33"/>
                </a:solidFill>
              </a:defRPr>
            </a:pPr>
            <a:r>
              <a:rPr sz="1350" b="1" i="0">
                <a:solidFill>
                  <a:srgbClr val="081F33"/>
                </a:solidFill>
              </a:rPr>
              <a:t>EXPORTS</a:t>
            </a:r>
          </a:p>
        </p:txBody>
      </p:sp>
      <p:sp>
        <p:nvSpPr>
          <p:cNvPr id="23" name="template-copy-2">
            <a:extLst xmlns:a="http://schemas.openxmlformats.org/drawingml/2006/main">
              <a:ext uri="{FF2B5EF4-FFF2-40B4-BE49-F238E27FC236}">
                <a16:creationId xmlns:a16="http://schemas.microsoft.com/office/drawing/2014/main" id="{F689B0D6-5E25-41CA-9260-F0995F42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863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D77"/>
                </a:solidFill>
              </a:defRPr>
            </a:pPr>
            <a:r>
              <a:rPr sz="1200" b="0" i="0">
                <a:solidFill>
                  <a:srgbClr val="5D6D77"/>
                </a:solidFill>
              </a:rPr>
              <a:t>Product name · version · timestamp · provenance</a:t>
            </a:r>
          </a:p>
        </p:txBody>
      </p:sp>
    </p:spTree>
    <p:extLst>
      <p:ext uri="{BB962C8B-B14F-4D97-AF65-F5344CB8AC3E}">
        <p14:creationId xmlns:p14="http://schemas.microsoft.com/office/powerpoint/2010/main" val="13613890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final-blue-rail">
            <a:extLst xmlns:a="http://schemas.openxmlformats.org/drawingml/2006/main">
              <a:ext uri="{FF2B5EF4-FFF2-40B4-BE49-F238E27FC236}">
                <a16:creationId xmlns:a16="http://schemas.microsoft.com/office/drawing/2014/main" id="{7D4B1BD8-C077-46A5-88DB-C852DDA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nal-amber-rail">
            <a:extLst xmlns:a="http://schemas.openxmlformats.org/drawingml/2006/main">
              <a:ext uri="{FF2B5EF4-FFF2-40B4-BE49-F238E27FC236}">
                <a16:creationId xmlns:a16="http://schemas.microsoft.com/office/drawing/2014/main" id="{845861F4-D858-486C-A37D-FF246609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9399113fd41b6"/>
          <a:stretch xmlns:a="http://schemas.openxmlformats.org/drawingml/2006/main"/>
        </p:blipFill>
        <p:spPr>
          <a:xfrm xmlns:a="http://schemas.openxmlformats.org/drawingml/2006/main">
            <a:off x="781050" y="7620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4" name="final-title">
            <a:extLst xmlns:a="http://schemas.openxmlformats.org/drawingml/2006/main">
              <a:ext uri="{FF2B5EF4-FFF2-40B4-BE49-F238E27FC236}">
                <a16:creationId xmlns:a16="http://schemas.microsoft.com/office/drawing/2014/main" id="{12FCC01C-7FE2-475F-A043-60B8B930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676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One identity.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Every engineering surface.</a:t>
            </a:r>
          </a:p>
        </p:txBody>
      </p:sp>
      <p:sp>
        <p:nvSpPr>
          <p:cNvPr id="5" name="final-copy">
            <a:extLst xmlns:a="http://schemas.openxmlformats.org/drawingml/2006/main">
              <a:ext uri="{FF2B5EF4-FFF2-40B4-BE49-F238E27FC236}">
                <a16:creationId xmlns:a16="http://schemas.microsoft.com/office/drawing/2014/main" id="{BDC23A3F-CEF0-4800-A091-5CE3C071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8D6DF"/>
                </a:solidFill>
              </a:defRPr>
            </a:pPr>
            <a:r>
              <a:rPr sz="1650" b="0" i="0">
                <a:solidFill>
                  <a:srgbClr val="C8D6DF"/>
                </a:solidFill>
              </a:rPr>
              <a:t>Use the approved assets, preserve the hierarchy and let process meaning lead every communication.</a:t>
            </a:r>
          </a:p>
        </p:txBody>
      </p:sp>
      <p:sp>
        <p:nvSpPr>
          <p:cNvPr id="6" name="toolkit-panel">
            <a:extLst xmlns:a="http://schemas.openxmlformats.org/drawingml/2006/main">
              <a:ext uri="{FF2B5EF4-FFF2-40B4-BE49-F238E27FC236}">
                <a16:creationId xmlns:a16="http://schemas.microsoft.com/office/drawing/2014/main" id="{4466C364-09F9-4A13-9630-05299B33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19150"/>
            <a:ext cx="3238500" cy="4762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olkit-label">
            <a:extLst xmlns:a="http://schemas.openxmlformats.org/drawingml/2006/main">
              <a:ext uri="{FF2B5EF4-FFF2-40B4-BE49-F238E27FC236}">
                <a16:creationId xmlns:a16="http://schemas.microsoft.com/office/drawing/2014/main" id="{B83C6782-91B9-47A1-8203-DF9917D1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620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63F5"/>
                </a:solidFill>
              </a:defRPr>
            </a:pPr>
            <a:r>
              <a:rPr sz="1050" b="1" i="0">
                <a:solidFill>
                  <a:srgbClr val="2F63F5"/>
                </a:solidFill>
              </a:rPr>
              <a:t>BRAND TOOLKIT</a:t>
            </a:r>
          </a:p>
        </p:txBody>
      </p:sp>
      <p:sp>
        <p:nvSpPr>
          <p:cNvPr id="8" name="toolkit-dot-0">
            <a:extLst xmlns:a="http://schemas.openxmlformats.org/drawingml/2006/main">
              <a:ext uri="{FF2B5EF4-FFF2-40B4-BE49-F238E27FC236}">
                <a16:creationId xmlns:a16="http://schemas.microsoft.com/office/drawing/2014/main" id="{7B357A39-6D53-40D4-B883-37BB0B36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049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oolkit-file-0">
            <a:extLst xmlns:a="http://schemas.openxmlformats.org/drawingml/2006/main">
              <a:ext uri="{FF2B5EF4-FFF2-40B4-BE49-F238E27FC236}">
                <a16:creationId xmlns:a16="http://schemas.microsoft.com/office/drawing/2014/main" id="{98DF3E5E-11EF-4370-9090-028B7644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F33"/>
                </a:solidFill>
              </a:defRPr>
            </a:pPr>
            <a:r>
              <a:rPr sz="1200" b="0" i="0">
                <a:solidFill>
                  <a:srgbClr val="081F33"/>
                </a:solidFill>
              </a:rPr>
              <a:t>SVG logo variants</a:t>
            </a:r>
          </a:p>
        </p:txBody>
      </p:sp>
      <p:sp>
        <p:nvSpPr>
          <p:cNvPr id="10" name="rule-884-216">
            <a:extLst xmlns:a="http://schemas.openxmlformats.org/drawingml/2006/main">
              <a:ext uri="{FF2B5EF4-FFF2-40B4-BE49-F238E27FC236}">
                <a16:creationId xmlns:a16="http://schemas.microsoft.com/office/drawing/2014/main" id="{AD78718C-88A9-41A2-8D1A-BB0BD13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oolkit-dot-1">
            <a:extLst xmlns:a="http://schemas.openxmlformats.org/drawingml/2006/main">
              <a:ext uri="{FF2B5EF4-FFF2-40B4-BE49-F238E27FC236}">
                <a16:creationId xmlns:a16="http://schemas.microsoft.com/office/drawing/2014/main" id="{B1569514-2335-46AE-A968-298869C9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olkit-file-1">
            <a:extLst xmlns:a="http://schemas.openxmlformats.org/drawingml/2006/main">
              <a:ext uri="{FF2B5EF4-FFF2-40B4-BE49-F238E27FC236}">
                <a16:creationId xmlns:a16="http://schemas.microsoft.com/office/drawing/2014/main" id="{40DDE8FB-5373-4540-958D-1AE5A6ED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F33"/>
                </a:solidFill>
              </a:defRPr>
            </a:pPr>
            <a:r>
              <a:rPr sz="1200" b="0" i="0">
                <a:solidFill>
                  <a:srgbClr val="081F33"/>
                </a:solidFill>
              </a:rPr>
              <a:t>Horizontal wordmarks</a:t>
            </a:r>
          </a:p>
        </p:txBody>
      </p:sp>
      <p:sp>
        <p:nvSpPr>
          <p:cNvPr id="13" name="rule-884-272">
            <a:extLst xmlns:a="http://schemas.openxmlformats.org/drawingml/2006/main">
              <a:ext uri="{FF2B5EF4-FFF2-40B4-BE49-F238E27FC236}">
                <a16:creationId xmlns:a16="http://schemas.microsoft.com/office/drawing/2014/main" id="{AEFE495F-E806-4C65-9DC2-44ECA8D7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oolkit-dot-2">
            <a:extLst xmlns:a="http://schemas.openxmlformats.org/drawingml/2006/main">
              <a:ext uri="{FF2B5EF4-FFF2-40B4-BE49-F238E27FC236}">
                <a16:creationId xmlns:a16="http://schemas.microsoft.com/office/drawing/2014/main" id="{025ED823-46DD-4077-9FD9-2FD0FD9E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olkit-file-2">
            <a:extLst xmlns:a="http://schemas.openxmlformats.org/drawingml/2006/main">
              <a:ext uri="{FF2B5EF4-FFF2-40B4-BE49-F238E27FC236}">
                <a16:creationId xmlns:a16="http://schemas.microsoft.com/office/drawing/2014/main" id="{790783CE-0F71-490F-9410-6274F512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F33"/>
                </a:solidFill>
              </a:defRPr>
            </a:pPr>
            <a:r>
              <a:rPr sz="1200" b="0" i="0">
                <a:solidFill>
                  <a:srgbClr val="081F33"/>
                </a:solidFill>
              </a:rPr>
              <a:t>Corporate Identity PPT</a:t>
            </a:r>
          </a:p>
        </p:txBody>
      </p:sp>
      <p:sp>
        <p:nvSpPr>
          <p:cNvPr id="16" name="rule-884-328">
            <a:extLst xmlns:a="http://schemas.openxmlformats.org/drawingml/2006/main">
              <a:ext uri="{FF2B5EF4-FFF2-40B4-BE49-F238E27FC236}">
                <a16:creationId xmlns:a16="http://schemas.microsoft.com/office/drawing/2014/main" id="{652DE525-5878-4532-8B54-4CF97D50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olkit-dot-3">
            <a:extLst xmlns:a="http://schemas.openxmlformats.org/drawingml/2006/main">
              <a:ext uri="{FF2B5EF4-FFF2-40B4-BE49-F238E27FC236}">
                <a16:creationId xmlns:a16="http://schemas.microsoft.com/office/drawing/2014/main" id="{301DE827-2A87-4D98-9231-975EFF9A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051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oolkit-file-3">
            <a:extLst xmlns:a="http://schemas.openxmlformats.org/drawingml/2006/main">
              <a:ext uri="{FF2B5EF4-FFF2-40B4-BE49-F238E27FC236}">
                <a16:creationId xmlns:a16="http://schemas.microsoft.com/office/drawing/2014/main" id="{0CB3A620-D930-4202-A419-027D4131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57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F33"/>
                </a:solidFill>
              </a:defRPr>
            </a:pPr>
            <a:r>
              <a:rPr sz="1200" b="0" i="0">
                <a:solidFill>
                  <a:srgbClr val="081F33"/>
                </a:solidFill>
              </a:rPr>
              <a:t>Written CI guide</a:t>
            </a:r>
          </a:p>
        </p:txBody>
      </p:sp>
      <p:sp>
        <p:nvSpPr>
          <p:cNvPr id="19" name="rule-884-384">
            <a:extLst xmlns:a="http://schemas.openxmlformats.org/drawingml/2006/main">
              <a:ext uri="{FF2B5EF4-FFF2-40B4-BE49-F238E27FC236}">
                <a16:creationId xmlns:a16="http://schemas.microsoft.com/office/drawing/2014/main" id="{94AE9FE3-35BD-43F9-81DC-654E27E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oolkit-dot-4">
            <a:extLst xmlns:a="http://schemas.openxmlformats.org/drawingml/2006/main">
              <a:ext uri="{FF2B5EF4-FFF2-40B4-BE49-F238E27FC236}">
                <a16:creationId xmlns:a16="http://schemas.microsoft.com/office/drawing/2014/main" id="{766C89EF-F23F-4EAE-AF59-428675A1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385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6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oolkit-file-4">
            <a:extLst xmlns:a="http://schemas.openxmlformats.org/drawingml/2006/main">
              <a:ext uri="{FF2B5EF4-FFF2-40B4-BE49-F238E27FC236}">
                <a16:creationId xmlns:a16="http://schemas.microsoft.com/office/drawing/2014/main" id="{E9331E99-E140-4CCA-8ED4-283370B2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F33"/>
                </a:solidFill>
              </a:defRPr>
            </a:pPr>
            <a:r>
              <a:rPr sz="1200" b="0" i="0">
                <a:solidFill>
                  <a:srgbClr val="081F33"/>
                </a:solidFill>
              </a:rPr>
              <a:t>Favicon</a:t>
            </a:r>
          </a:p>
        </p:txBody>
      </p:sp>
      <p:sp>
        <p:nvSpPr>
          <p:cNvPr id="22" name="rule-884-440">
            <a:extLst xmlns:a="http://schemas.openxmlformats.org/drawingml/2006/main">
              <a:ext uri="{FF2B5EF4-FFF2-40B4-BE49-F238E27FC236}">
                <a16:creationId xmlns:a16="http://schemas.microsoft.com/office/drawing/2014/main" id="{354D1865-0AD4-4FA2-B1A7-C2CB9E68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olkit-dot-5">
            <a:extLst xmlns:a="http://schemas.openxmlformats.org/drawingml/2006/main">
              <a:ext uri="{FF2B5EF4-FFF2-40B4-BE49-F238E27FC236}">
                <a16:creationId xmlns:a16="http://schemas.microsoft.com/office/drawing/2014/main" id="{6E451670-89A3-4FB8-8EA7-1B9AA21E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71975"/>
            <a:ext cx="171450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A8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olkit-file-5">
            <a:extLst xmlns:a="http://schemas.openxmlformats.org/drawingml/2006/main">
              <a:ext uri="{FF2B5EF4-FFF2-40B4-BE49-F238E27FC236}">
                <a16:creationId xmlns:a16="http://schemas.microsoft.com/office/drawing/2014/main" id="{C8E3FD69-DC60-4928-83FE-9EC388C9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F33"/>
                </a:solidFill>
              </a:defRPr>
            </a:pPr>
            <a:r>
              <a:rPr sz="1200" b="0" i="0">
                <a:solidFill>
                  <a:srgbClr val="081F33"/>
                </a:solidFill>
              </a:rPr>
              <a:t>Complete ZIP pack</a:t>
            </a:r>
          </a:p>
        </p:txBody>
      </p:sp>
      <p:sp>
        <p:nvSpPr>
          <p:cNvPr id="25" name="toolkit-url">
            <a:extLst xmlns:a="http://schemas.openxmlformats.org/drawingml/2006/main">
              <a:ext uri="{FF2B5EF4-FFF2-40B4-BE49-F238E27FC236}">
                <a16:creationId xmlns:a16="http://schemas.microsoft.com/office/drawing/2014/main" id="{AD9A7EE5-035D-46DF-AABF-14FA2141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4955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8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olkit-url-copy">
            <a:extLst xmlns:a="http://schemas.openxmlformats.org/drawingml/2006/main">
              <a:ext uri="{FF2B5EF4-FFF2-40B4-BE49-F238E27FC236}">
                <a16:creationId xmlns:a16="http://schemas.microsoft.com/office/drawing/2014/main" id="{AD330E35-F0AE-4A8A-AA88-F645E272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67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ax-i-on.com/brand</a:t>
            </a:r>
          </a:p>
        </p:txBody>
      </p:sp>
      <p:sp>
        <p:nvSpPr>
          <p:cNvPr id="27" name="final-version">
            <a:extLst xmlns:a="http://schemas.openxmlformats.org/drawingml/2006/main">
              <a:ext uri="{FF2B5EF4-FFF2-40B4-BE49-F238E27FC236}">
                <a16:creationId xmlns:a16="http://schemas.microsoft.com/office/drawing/2014/main" id="{4B1605B6-A3E1-4FDA-89E2-AF8A3F9D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1CF"/>
                </a:solidFill>
              </a:defRPr>
            </a:pPr>
            <a:r>
              <a:rPr sz="975" b="0" i="0">
                <a:solidFill>
                  <a:srgbClr val="AFC1CF"/>
                </a:solidFill>
              </a:rPr>
              <a:t>AXION PROCESS OS · CORPORATE IDENTITY · VERSION 1.1</a:t>
            </a:r>
          </a:p>
        </p:txBody>
      </p:sp>
    </p:spTree>
    <p:extLst>
      <p:ext uri="{BB962C8B-B14F-4D97-AF65-F5344CB8AC3E}">
        <p14:creationId xmlns:p14="http://schemas.microsoft.com/office/powerpoint/2010/main" val="543501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2026-08-05T19:26:17.7410000Z</dcterms:created>
  <dcterms:modified xsi:type="dcterms:W3CDTF">2026-08-05T19:26:17.7410000Z</dcterms:modified>
</coreProperties>
</file>