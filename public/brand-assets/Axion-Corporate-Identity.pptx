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9a2733ffee54713" /><Relationship Type="http://schemas.openxmlformats.org/officeDocument/2006/relationships/extended-properties" Target="/docProps/app.xml" Id="Rf17b40cce180449d" /><Relationship Type="http://schemas.openxmlformats.org/officeDocument/2006/relationships/officeDocument" Target="/ppt/presentation.xml" Id="R6f4e8e389f9a414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8e159a117f547ab"/>
  </p:sldMasterIdLst>
  <p:notesMasterIdLst>
    <p:notesMasterId xmlns:r="http://schemas.openxmlformats.org/officeDocument/2006/relationships" r:id="R0a615b792d954362"/>
  </p:notesMasterIdLst>
  <p:sldIdLst>
    <p:sldId xmlns:r="http://schemas.openxmlformats.org/officeDocument/2006/relationships" id="256" r:id="Red4a0e5e944b4cda"/>
    <p:sldId xmlns:r="http://schemas.openxmlformats.org/officeDocument/2006/relationships" id="257" r:id="R78a3ee0016194f12"/>
    <p:sldId xmlns:r="http://schemas.openxmlformats.org/officeDocument/2006/relationships" id="258" r:id="R89816f44f97f4714"/>
    <p:sldId xmlns:r="http://schemas.openxmlformats.org/officeDocument/2006/relationships" id="259" r:id="R0b31d2e55ec94eda"/>
    <p:sldId xmlns:r="http://schemas.openxmlformats.org/officeDocument/2006/relationships" id="260" r:id="R8b76215df72a4c9f"/>
    <p:sldId xmlns:r="http://schemas.openxmlformats.org/officeDocument/2006/relationships" id="261" r:id="Raf1297acb78f490d"/>
    <p:sldId xmlns:r="http://schemas.openxmlformats.org/officeDocument/2006/relationships" id="262" r:id="R33aea76608934fe2"/>
    <p:sldId xmlns:r="http://schemas.openxmlformats.org/officeDocument/2006/relationships" id="263" r:id="R4a5b89366a4a4a9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9f3a168c4ed462f" /><Relationship Type="http://schemas.openxmlformats.org/officeDocument/2006/relationships/slideMaster" Target="/ppt/slideMasters/slideMaster1.xml" Id="R68e159a117f547ab" /><Relationship Type="http://schemas.openxmlformats.org/officeDocument/2006/relationships/notesMaster" Target="/ppt/notesMasters/notesMaster1.xml" Id="R0a615b792d954362" /><Relationship Type="http://schemas.openxmlformats.org/officeDocument/2006/relationships/presProps" Target="/ppt/presProps.xml" Id="Rfd191c0d77db4284" /><Relationship Type="http://schemas.openxmlformats.org/officeDocument/2006/relationships/tableStyles" Target="/ppt/tableStyles.xml" Id="R412ebb90b88147c5" /><Relationship Type="http://schemas.openxmlformats.org/officeDocument/2006/relationships/slide" Target="/ppt/slides/slide1.xml" Id="Red4a0e5e944b4cda" /><Relationship Type="http://schemas.openxmlformats.org/officeDocument/2006/relationships/slide" Target="/ppt/slides/slide2.xml" Id="R78a3ee0016194f12" /><Relationship Type="http://schemas.openxmlformats.org/officeDocument/2006/relationships/slide" Target="/ppt/slides/slide3.xml" Id="R89816f44f97f4714" /><Relationship Type="http://schemas.openxmlformats.org/officeDocument/2006/relationships/slide" Target="/ppt/slides/slide4.xml" Id="R0b31d2e55ec94eda" /><Relationship Type="http://schemas.openxmlformats.org/officeDocument/2006/relationships/slide" Target="/ppt/slides/slide5.xml" Id="R8b76215df72a4c9f" /><Relationship Type="http://schemas.openxmlformats.org/officeDocument/2006/relationships/slide" Target="/ppt/slides/slide6.xml" Id="Raf1297acb78f490d" /><Relationship Type="http://schemas.openxmlformats.org/officeDocument/2006/relationships/slide" Target="/ppt/slides/slide7.xml" Id="R33aea76608934fe2" /><Relationship Type="http://schemas.openxmlformats.org/officeDocument/2006/relationships/slide" Target="/ppt/slides/slide8.xml" Id="R4a5b89366a4a4a9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c779e99a0f4439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a43b6c175024873" /><Relationship Type="http://schemas.openxmlformats.org/officeDocument/2006/relationships/notesMaster" Target="/ppt/notesMasters/notesMaster1.xml" Id="R490c0ba6f954441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c38846f08174e0f" /><Relationship Type="http://schemas.openxmlformats.org/officeDocument/2006/relationships/notesMaster" Target="/ppt/notesMasters/notesMaster1.xml" Id="Rf1911462e5f4440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4e12e10c761429d" /><Relationship Type="http://schemas.openxmlformats.org/officeDocument/2006/relationships/notesMaster" Target="/ppt/notesMasters/notesMaster1.xml" Id="Re3f49e88baea4de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99c0d1706b44bbf" /><Relationship Type="http://schemas.openxmlformats.org/officeDocument/2006/relationships/notesMaster" Target="/ppt/notesMasters/notesMaster1.xml" Id="Rc36502d7ad924df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dc287dabb324d18" /><Relationship Type="http://schemas.openxmlformats.org/officeDocument/2006/relationships/notesMaster" Target="/ppt/notesMasters/notesMaster1.xml" Id="R7360aa796ae2414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4ebcf0a5f984144" /><Relationship Type="http://schemas.openxmlformats.org/officeDocument/2006/relationships/notesMaster" Target="/ppt/notesMasters/notesMaster1.xml" Id="Re13f4cd3a4ff44f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543e5c889384db2" /><Relationship Type="http://schemas.openxmlformats.org/officeDocument/2006/relationships/notesMaster" Target="/ppt/notesMasters/notesMaster1.xml" Id="R43395b8bcec346a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ffd90615ba245f8" /><Relationship Type="http://schemas.openxmlformats.org/officeDocument/2006/relationships/notesMaster" Target="/ppt/notesMasters/notesMaster1.xml" Id="R720097a202304f7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b19cb18cf1437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cb8c5853e4349bd" /><Relationship Type="http://schemas.openxmlformats.org/officeDocument/2006/relationships/slideLayout" Target="/ppt/slideLayouts/slideLayout1.xml" Id="Rdaf338a47b9d4a3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af338a47b9d4a3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c046e371f84e10" /><Relationship Type="http://schemas.openxmlformats.org/officeDocument/2006/relationships/image" Target="/ppt/media/image.jpeg" Id="R4554a1f6b6304510" /><Relationship Type="http://schemas.openxmlformats.org/officeDocument/2006/relationships/image" Target="/ppt/media/image.png" Id="R64e6d94c6c464a2a" /><Relationship Type="http://schemas.openxmlformats.org/officeDocument/2006/relationships/image" Target="/ppt/media/image.svg" Id="R3e9e7f7018ab4fd3" /><Relationship Type="http://schemas.openxmlformats.org/officeDocument/2006/relationships/notesSlide" Target="/ppt/notesSlides/notesSlide1.xml" Id="Ra8a71b5a74e741c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dced76c3114438" /><Relationship Type="http://schemas.openxmlformats.org/officeDocument/2006/relationships/image" Target="/ppt/media/image2.png" Id="Re4ade5dbfe6046cb" /><Relationship Type="http://schemas.openxmlformats.org/officeDocument/2006/relationships/image" Target="/ppt/media/image2.svg" Id="R3ca757f954e94b18" /><Relationship Type="http://schemas.openxmlformats.org/officeDocument/2006/relationships/notesSlide" Target="/ppt/notesSlides/notesSlide2.xml" Id="Rd2c027d97da4497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46fda6eb624934" /><Relationship Type="http://schemas.openxmlformats.org/officeDocument/2006/relationships/image" Target="/ppt/media/image3.png" Id="Rbd96e8a385f5412b" /><Relationship Type="http://schemas.openxmlformats.org/officeDocument/2006/relationships/image" Target="/ppt/media/image3.svg" Id="Redd460beb98c4817" /><Relationship Type="http://schemas.openxmlformats.org/officeDocument/2006/relationships/image" Target="/ppt/media/image4.png" Id="R43cde93c8c614775" /><Relationship Type="http://schemas.openxmlformats.org/officeDocument/2006/relationships/image" Target="/ppt/media/image4.svg" Id="Ra38b8febb1044dc1" /><Relationship Type="http://schemas.openxmlformats.org/officeDocument/2006/relationships/notesSlide" Target="/ppt/notesSlides/notesSlide3.xml" Id="R084e5060725941a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a4263d5566476c" /><Relationship Type="http://schemas.openxmlformats.org/officeDocument/2006/relationships/notesSlide" Target="/ppt/notesSlides/notesSlide4.xml" Id="Rf9b94d9be5e74e2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e7941ff087473a" /><Relationship Type="http://schemas.openxmlformats.org/officeDocument/2006/relationships/notesSlide" Target="/ppt/notesSlides/notesSlide5.xml" Id="Rf94c2d98dbb748a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c2983aaf1449db" /><Relationship Type="http://schemas.openxmlformats.org/officeDocument/2006/relationships/image" Target="/ppt/media/image2.jpeg" Id="Rc22cc17526ab4e8a" /><Relationship Type="http://schemas.openxmlformats.org/officeDocument/2006/relationships/notesSlide" Target="/ppt/notesSlides/notesSlide6.xml" Id="R81b608f215984ac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2a34f0ad1a44f1" /><Relationship Type="http://schemas.openxmlformats.org/officeDocument/2006/relationships/image" Target="/ppt/media/image3.jpeg" Id="R105d7ae5a1e54781" /><Relationship Type="http://schemas.openxmlformats.org/officeDocument/2006/relationships/image" Target="/ppt/media/image4.jpeg" Id="R90a7208cce814224" /><Relationship Type="http://schemas.openxmlformats.org/officeDocument/2006/relationships/notesSlide" Target="/ppt/notesSlides/notesSlide7.xml" Id="R73b21548b4a0446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0df184c46e4fad" /><Relationship Type="http://schemas.openxmlformats.org/officeDocument/2006/relationships/notesSlide" Target="/ppt/notesSlides/notesSlide8.xml" Id="R1a4ea181ee8f490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D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54a1f6b6304510"/>
          <a:srcRect xmlns:a="http://schemas.openxmlformats.org/drawingml/2006/main" l="20833" t="0" r="2083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0" y="0"/>
            <a:ext cx="533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73197A-EF9B-4207-8744-D28349033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0"/>
            <a:ext cx="1428750" cy="6858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71D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266439-73D4-43E7-B20F-C74957DC3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FB0FF"/>
                </a:solidFill>
              </a:defRPr>
            </a:pPr>
            <a:r>
              <a:rPr sz="1050" b="1">
                <a:solidFill>
                  <a:srgbClr val="8FB0FF"/>
                </a:solidFill>
              </a:rPr>
              <a:t>CORPORATE IDENTITY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681030-FD97-459F-B82B-4AA309D78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53340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FFFFFF"/>
                </a:solidFill>
              </a:defRPr>
            </a:pPr>
            <a:r>
              <a:rPr sz="4500" b="1">
                <a:solidFill>
                  <a:srgbClr val="FFFFFF"/>
                </a:solidFill>
              </a:rPr>
              <a:t>Axion</a:t>
            </a:r>
          </a:p>
          <a:p xmlns:a="http://schemas.openxmlformats.org/drawingml/2006/main">
            <a:pPr algn="l">
              <a:defRPr sz="4500" b="1">
                <a:solidFill>
                  <a:srgbClr val="FFFFFF"/>
                </a:solidFill>
              </a:defRPr>
            </a:pPr>
            <a:r>
              <a:rPr sz="4500" b="1">
                <a:solidFill>
                  <a:srgbClr val="FFFFFF"/>
                </a:solidFill>
              </a:rPr>
              <a:t>Process 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31A31D-4AAB-46B2-BB01-4BAD20245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5143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C8D7E5"/>
                </a:solidFill>
              </a:defRPr>
            </a:pPr>
            <a:r>
              <a:rPr sz="1650" b="0">
                <a:solidFill>
                  <a:srgbClr val="C8D7E5"/>
                </a:solidFill>
              </a:rPr>
              <a:t>One coherent visual system for bioprocess engineering software, reports, presentations, and partners.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e6d94c6c464a2a">
            <a:extLst>
              <a:ext uri="{96DAC541-7B7A-43D3-8B79-37D633B846F1}">
                <asvg:svgBlip xmlns:asvg="http://schemas.microsoft.com/office/drawing/2016/SVG/main" r:embed="R3e9e7f7018ab4fd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5800" y="5257800"/>
            <a:ext cx="800100" cy="800100"/>
          </a:xfrm>
          <a:prstGeom xmlns:a="http://schemas.openxmlformats.org/drawingml/2006/main" prst="roundRect">
            <a:avLst>
              <a:gd name="adj" fmla="val 14286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BD4F1B-A061-4C67-BF97-1A2D4A51A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4673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BIOPROCESS ENGINEERING, CONNECTED.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8C9648-522B-41D8-806E-4B813978C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FC2D4"/>
                </a:solidFill>
              </a:defRPr>
            </a:pPr>
            <a:r>
              <a:rPr sz="825" b="0">
                <a:solidFill>
                  <a:srgbClr val="AFC2D4"/>
                </a:solidFill>
              </a:rPr>
              <a:t>AXION PROCESS OS · CORPORATE IDENTITY · 2026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A4D4DE-55D7-46FB-B6B6-9E586697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AFC2D4"/>
                </a:solidFill>
              </a:defRPr>
            </a:pPr>
            <a:r>
              <a:rPr sz="825" b="0">
                <a:solidFill>
                  <a:srgbClr val="AFC2D4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044808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EF3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9E1771-3C42-4D09-8BED-0B9C460B1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16BFF"/>
                </a:solidFill>
              </a:defRPr>
            </a:pPr>
            <a:r>
              <a:rPr sz="975" b="1">
                <a:solidFill>
                  <a:srgbClr val="316BFF"/>
                </a:solidFill>
              </a:rPr>
              <a:t>BRAND IDEA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9B4B71-76B1-4145-BA26-299055D78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952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73D"/>
                </a:solidFill>
              </a:defRPr>
            </a:pPr>
            <a:r>
              <a:rPr sz="2850" b="1">
                <a:solidFill>
                  <a:srgbClr val="10273D"/>
                </a:solidFill>
              </a:rPr>
              <a:t>Biology in controlled flow.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FE5A5B-CFF5-4FF3-B1C8-66F886320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933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A80"/>
                </a:solidFill>
              </a:defRPr>
            </a:pPr>
            <a:r>
              <a:rPr sz="1350" b="0">
                <a:solidFill>
                  <a:srgbClr val="526A80"/>
                </a:solidFill>
              </a:rPr>
              <a:t>Axion makes complex production systems legible without making them generic or ornamental.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ade5dbfe6046cb">
            <a:extLst>
              <a:ext uri="{96DAC541-7B7A-43D3-8B79-37D633B846F1}">
                <asvg:svgBlip xmlns:asvg="http://schemas.microsoft.com/office/drawing/2016/SVG/main" r:embed="R3ca757f954e94b1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0287000" y="457200"/>
            <a:ext cx="876300" cy="876300"/>
          </a:xfrm>
          <a:prstGeom xmlns:a="http://schemas.openxmlformats.org/drawingml/2006/main" prst="roundRect">
            <a:avLst>
              <a:gd name="adj" fmla="val 13043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11BFC5-65D0-4677-A571-C91D92DE7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85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16BFF"/>
                </a:solidFill>
              </a:defRPr>
            </a:pPr>
            <a:r>
              <a:rPr sz="3150" b="1">
                <a:solidFill>
                  <a:srgbClr val="316BFF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1372D7-C56E-471F-803B-DED7FB603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273D"/>
                </a:solidFill>
              </a:defRPr>
            </a:pPr>
            <a:r>
              <a:rPr sz="1950" b="1">
                <a:solidFill>
                  <a:srgbClr val="10273D"/>
                </a:solidFill>
              </a:rPr>
              <a:t>Organic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36C6D3-D55C-47CA-8536-64B01308B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A80"/>
                </a:solidFill>
              </a:defRPr>
            </a:pPr>
            <a:r>
              <a:rPr sz="1350" b="0">
                <a:solidFill>
                  <a:srgbClr val="526A80"/>
                </a:solidFill>
              </a:rPr>
              <a:t>Living systems, adaptation, directional movement.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420BC9-FABA-4B35-BFBD-99F85E5D2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743200"/>
            <a:ext cx="85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6F8FB0"/>
                </a:solidFill>
              </a:defRPr>
            </a:pPr>
            <a:r>
              <a:rPr sz="3150" b="1">
                <a:solidFill>
                  <a:srgbClr val="6F8FB0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9AB850-6E4F-4E0D-85A8-0F09DAC20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35280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273D"/>
                </a:solidFill>
              </a:defRPr>
            </a:pPr>
            <a:r>
              <a:rPr sz="1950" b="1">
                <a:solidFill>
                  <a:srgbClr val="10273D"/>
                </a:solidFill>
              </a:rPr>
              <a:t>Exact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BA1554-C9C7-4804-ACEF-949F86663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82905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A80"/>
                </a:solidFill>
              </a:defRPr>
            </a:pPr>
            <a:r>
              <a:rPr sz="1350" b="0">
                <a:solidFill>
                  <a:srgbClr val="526A80"/>
                </a:solidFill>
              </a:rPr>
              <a:t>Restrained grids and explicit hierarchy.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12E5C0-7C8B-4E4B-87C3-D98258FC3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43200"/>
            <a:ext cx="85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2B441"/>
                </a:solidFill>
              </a:defRPr>
            </a:pPr>
            <a:r>
              <a:rPr sz="3150" b="1">
                <a:solidFill>
                  <a:srgbClr val="F2B441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4128EB-E9B9-40F9-A3A8-7240C71A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35280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273D"/>
                </a:solidFill>
              </a:defRPr>
            </a:pPr>
            <a:r>
              <a:rPr sz="1950" b="1">
                <a:solidFill>
                  <a:srgbClr val="10273D"/>
                </a:solidFill>
              </a:rPr>
              <a:t>Operational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993DD4-8548-47D3-9190-1653848CF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82905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A80"/>
                </a:solidFill>
              </a:defRPr>
            </a:pPr>
            <a:r>
              <a:rPr sz="1350" b="0">
                <a:solidFill>
                  <a:srgbClr val="526A80"/>
                </a:solidFill>
              </a:rPr>
              <a:t>Motion explains flow, state, and sequence.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0A42ED-252F-4FCA-9508-DD757EC55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A80"/>
                </a:solidFill>
              </a:defRPr>
            </a:pPr>
            <a:r>
              <a:rPr sz="825" b="0">
                <a:solidFill>
                  <a:srgbClr val="526A80"/>
                </a:solidFill>
              </a:rPr>
              <a:t>AXION PROCESS OS · CORPORATE IDENTITY ·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69F929-EEDE-4A65-9FFE-ED6A8188F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A80"/>
                </a:solidFill>
              </a:defRPr>
            </a:pPr>
            <a:r>
              <a:rPr sz="825" b="0">
                <a:solidFill>
                  <a:srgbClr val="526A80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41989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57E7A4-BDB4-4379-B1C6-10ADD7E27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16BFF"/>
                </a:solidFill>
              </a:defRPr>
            </a:pPr>
            <a:r>
              <a:rPr sz="975" b="1">
                <a:solidFill>
                  <a:srgbClr val="316BFF"/>
                </a:solidFill>
              </a:rPr>
              <a:t>PRIMARY MARK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64B78E-EE43-4492-9310-C6A7BB8F0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952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73D"/>
                </a:solidFill>
              </a:defRPr>
            </a:pPr>
            <a:r>
              <a:rPr sz="2850" b="1">
                <a:solidFill>
                  <a:srgbClr val="10273D"/>
                </a:solidFill>
              </a:rPr>
              <a:t>The aquatic Axion signature.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7D3EB4-4310-4156-A002-5664383C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933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A80"/>
                </a:solidFill>
              </a:defRPr>
            </a:pPr>
            <a:r>
              <a:rPr sz="1350" b="0">
                <a:solidFill>
                  <a:srgbClr val="526A80"/>
                </a:solidFill>
              </a:rPr>
              <a:t>Use the organic side-profile axolotl in navy and white by default. Keep its silhouette unchanged.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028163-7975-4F92-BFCC-06E8E682A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506730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071D33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96e8a385f5412b">
            <a:extLst>
              <a:ext uri="{96DAC541-7B7A-43D3-8B79-37D633B846F1}">
                <asvg:svgBlip xmlns:asvg="http://schemas.microsoft.com/office/drawing/2016/SVG/main" r:embed="Redd460beb98c481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152650" y="3019425"/>
            <a:ext cx="1981200" cy="1981200"/>
          </a:xfrm>
          <a:prstGeom xmlns:a="http://schemas.openxmlformats.org/drawingml/2006/main" prst="roundRect">
            <a:avLst>
              <a:gd name="adj" fmla="val 5769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F88D04-3C3A-405E-9917-1517E2087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76500"/>
            <a:ext cx="506730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cde93c8c614775">
            <a:extLst>
              <a:ext uri="{96DAC541-7B7A-43D3-8B79-37D633B846F1}">
                <asvg:svgBlip xmlns:asvg="http://schemas.microsoft.com/office/drawing/2016/SVG/main" r:embed="Ra38b8febb1044dc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524750" y="3019425"/>
            <a:ext cx="1981200" cy="1981200"/>
          </a:xfrm>
          <a:prstGeom xmlns:a="http://schemas.openxmlformats.org/drawingml/2006/main" prst="roundRect">
            <a:avLst>
              <a:gd name="adj" fmla="val 5769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76E233-06E0-4979-9044-14EA4C26F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19700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AFC2D4"/>
                </a:solidFill>
              </a:defRPr>
            </a:pPr>
            <a:r>
              <a:rPr sz="900" b="1">
                <a:solidFill>
                  <a:srgbClr val="AFC2D4"/>
                </a:solidFill>
              </a:rPr>
              <a:t>DARK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D18729-0540-4225-975F-03B1BD461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219700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26A80"/>
                </a:solidFill>
              </a:defRPr>
            </a:pPr>
            <a:r>
              <a:rPr sz="900" b="1">
                <a:solidFill>
                  <a:srgbClr val="526A80"/>
                </a:solidFill>
              </a:rPr>
              <a:t>LIGHT SURFACE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789765-B222-4E8F-A9DA-FD685CFAA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A80"/>
                </a:solidFill>
              </a:defRPr>
            </a:pPr>
            <a:r>
              <a:rPr sz="825" b="0">
                <a:solidFill>
                  <a:srgbClr val="526A80"/>
                </a:solidFill>
              </a:rPr>
              <a:t>AXION PROCESS OS · CORPORATE IDENTITY ·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3CE590-070F-4CCD-9C46-14D5BD567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A80"/>
                </a:solidFill>
              </a:defRPr>
            </a:pPr>
            <a:r>
              <a:rPr sz="825" b="0">
                <a:solidFill>
                  <a:srgbClr val="526A80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73630887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5E050ED-AC76-4B41-9922-1F2CE54C7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16BFF"/>
                </a:solidFill>
              </a:defRPr>
            </a:pPr>
            <a:r>
              <a:rPr sz="975" b="1">
                <a:solidFill>
                  <a:srgbClr val="316BFF"/>
                </a:solidFill>
              </a:rPr>
              <a:t>COLOR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7A70E6-9DD5-428A-B78D-180D608A9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952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73D"/>
                </a:solidFill>
              </a:defRPr>
            </a:pPr>
            <a:r>
              <a:rPr sz="2850" b="1">
                <a:solidFill>
                  <a:srgbClr val="10273D"/>
                </a:solidFill>
              </a:rPr>
              <a:t>Navy leads. Cobalt moves. Amber focuses.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F6668D-396A-45D1-A249-B33A82A9D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933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A80"/>
                </a:solidFill>
              </a:defRPr>
            </a:pPr>
            <a:r>
              <a:rPr sz="1350" b="0">
                <a:solidFill>
                  <a:srgbClr val="526A80"/>
                </a:solidFill>
              </a:rPr>
              <a:t>Turquoise is not part of the corporate palette. Every color has one engineering role.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CDBB89-4DB9-482A-B3FC-430F0EB65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581150" cy="1733550"/>
          </a:xfrm>
          <a:prstGeom xmlns:a="http://schemas.openxmlformats.org/drawingml/2006/main" prst="roundRect">
            <a:avLst>
              <a:gd name="adj" fmla="val 9639"/>
            </a:avLst>
          </a:prstGeom>
          <a:solidFill xmlns:a="http://schemas.openxmlformats.org/drawingml/2006/main">
            <a:srgbClr val="071D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9A4BEE-E0F4-467E-924B-907E5A72B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1257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AXION NAVY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C97F5F-45C8-48C6-9883-DBF31E735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1000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#071D33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819A86-1BD8-4271-A235-EE0DBDE90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581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A80"/>
                </a:solidFill>
              </a:defRPr>
            </a:pPr>
            <a:r>
              <a:rPr sz="1200" b="0">
                <a:solidFill>
                  <a:srgbClr val="526A80"/>
                </a:solidFill>
              </a:rPr>
              <a:t>Foundation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3363C7-1D8E-490A-800D-6A0CA3293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552700"/>
            <a:ext cx="1581150" cy="1733550"/>
          </a:xfrm>
          <a:prstGeom xmlns:a="http://schemas.openxmlformats.org/drawingml/2006/main" prst="roundRect">
            <a:avLst>
              <a:gd name="adj" fmla="val 9639"/>
            </a:avLst>
          </a:prstGeom>
          <a:solidFill xmlns:a="http://schemas.openxmlformats.org/drawingml/2006/main">
            <a:srgbClr val="31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FDBEB4-7256-4D25-B709-AEE94FD10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800350"/>
            <a:ext cx="1257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SIGNAL COBALT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3BD0EC-EE18-4DB0-A27D-CA72862C1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81000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#316BFF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CFF14C-11EC-4A03-B43E-5D2711882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476750"/>
            <a:ext cx="1581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A80"/>
                </a:solidFill>
              </a:defRPr>
            </a:pPr>
            <a:r>
              <a:rPr sz="1200" b="0">
                <a:solidFill>
                  <a:srgbClr val="526A80"/>
                </a:solidFill>
              </a:rPr>
              <a:t>Interaction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81B37C-26CE-4A89-A985-9D69F60E6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552700"/>
            <a:ext cx="1581150" cy="1733550"/>
          </a:xfrm>
          <a:prstGeom xmlns:a="http://schemas.openxmlformats.org/drawingml/2006/main" prst="roundRect">
            <a:avLst>
              <a:gd name="adj" fmla="val 9639"/>
            </a:avLst>
          </a:prstGeom>
          <a:solidFill xmlns:a="http://schemas.openxmlformats.org/drawingml/2006/main">
            <a:srgbClr val="6F8F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2CE849-856F-4D41-A61A-8A14BDCE0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800350"/>
            <a:ext cx="1257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PROCESS STEEL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52B67D-2976-40B2-A991-3F9C41F33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1000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#6F8FB0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247D8B-1746-4C2C-91E0-CAB40F63A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476750"/>
            <a:ext cx="1581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A80"/>
                </a:solidFill>
              </a:defRPr>
            </a:pPr>
            <a:r>
              <a:rPr sz="1200" b="0">
                <a:solidFill>
                  <a:srgbClr val="526A80"/>
                </a:solidFill>
              </a:rPr>
              <a:t>Infrastructure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D7215B-DBE9-44DA-A00B-D042FDA87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552700"/>
            <a:ext cx="1581150" cy="1733550"/>
          </a:xfrm>
          <a:prstGeom xmlns:a="http://schemas.openxmlformats.org/drawingml/2006/main" prst="roundRect">
            <a:avLst>
              <a:gd name="adj" fmla="val 9639"/>
            </a:avLst>
          </a:prstGeom>
          <a:solidFill xmlns:a="http://schemas.openxmlformats.org/drawingml/2006/main">
            <a:srgbClr val="F2B4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A5CAA0-9454-4477-9B7C-7E5656A9E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800350"/>
            <a:ext cx="1257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273D"/>
                </a:solidFill>
              </a:defRPr>
            </a:pPr>
            <a:r>
              <a:rPr sz="1050" b="1">
                <a:solidFill>
                  <a:srgbClr val="10273D"/>
                </a:solidFill>
              </a:rPr>
              <a:t>REACTOR AMBER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046FED-AB1D-47D4-9DE1-47D72F0FD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81000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0273D"/>
                </a:solidFill>
              </a:defRPr>
            </a:pPr>
            <a:r>
              <a:rPr sz="1125" b="0">
                <a:solidFill>
                  <a:srgbClr val="10273D"/>
                </a:solidFill>
              </a:rPr>
              <a:t>#F2B441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E2B3B3-A84F-4FF9-808C-61DC621D5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476750"/>
            <a:ext cx="1581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A80"/>
                </a:solidFill>
              </a:defRPr>
            </a:pPr>
            <a:r>
              <a:rPr sz="1200" b="0">
                <a:solidFill>
                  <a:srgbClr val="526A80"/>
                </a:solidFill>
              </a:rPr>
              <a:t>Review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5A3019-A465-4DA2-AC97-750EA12B5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552700"/>
            <a:ext cx="1581150" cy="1733550"/>
          </a:xfrm>
          <a:prstGeom xmlns:a="http://schemas.openxmlformats.org/drawingml/2006/main" prst="roundRect">
            <a:avLst>
              <a:gd name="adj" fmla="val 9639"/>
            </a:avLst>
          </a:prstGeom>
          <a:solidFill xmlns:a="http://schemas.openxmlformats.org/drawingml/2006/main">
            <a:srgbClr val="D95D5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33DE11-0417-4081-9C97-3B7468521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800350"/>
            <a:ext cx="1257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SAFETY CORAL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576A51-B8E1-41FB-8B9A-EA69BA8C5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1000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#D95D58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5C7B2B-27A7-4737-B221-CF018538D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476750"/>
            <a:ext cx="1581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A80"/>
                </a:solidFill>
              </a:defRPr>
            </a:pPr>
            <a:r>
              <a:rPr sz="1200" b="0">
                <a:solidFill>
                  <a:srgbClr val="526A80"/>
                </a:solidFill>
              </a:rPr>
              <a:t>Critical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0FE9CD-FA29-43AB-AEFE-2972550B0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552700"/>
            <a:ext cx="1581150" cy="1733550"/>
          </a:xfrm>
          <a:prstGeom xmlns:a="http://schemas.openxmlformats.org/drawingml/2006/main" prst="roundRect">
            <a:avLst>
              <a:gd name="adj" fmla="val 963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C5D2D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104959-3E0E-45A4-B8EC-11A68651C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800350"/>
            <a:ext cx="1257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273D"/>
                </a:solidFill>
              </a:defRPr>
            </a:pPr>
            <a:r>
              <a:rPr sz="1050" b="1">
                <a:solidFill>
                  <a:srgbClr val="10273D"/>
                </a:solidFill>
              </a:rPr>
              <a:t>ICE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D5928CC-48EF-4DDF-8A36-DC7D80F0A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81000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0273D"/>
                </a:solidFill>
              </a:defRPr>
            </a:pPr>
            <a:r>
              <a:rPr sz="1125" b="0">
                <a:solidFill>
                  <a:srgbClr val="10273D"/>
                </a:solidFill>
              </a:rPr>
              <a:t>#EEF3F8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6E5CBA2-E9BB-4F58-9332-D52F79453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476750"/>
            <a:ext cx="1581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A80"/>
                </a:solidFill>
              </a:defRPr>
            </a:pPr>
            <a:r>
              <a:rPr sz="1200" b="0">
                <a:solidFill>
                  <a:srgbClr val="526A80"/>
                </a:solidFill>
              </a:rPr>
              <a:t>Canvas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E9351F-E455-4669-8B4F-057EF0790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A80"/>
                </a:solidFill>
              </a:defRPr>
            </a:pPr>
            <a:r>
              <a:rPr sz="825" b="0">
                <a:solidFill>
                  <a:srgbClr val="526A80"/>
                </a:solidFill>
              </a:rPr>
              <a:t>AXION PROCESS OS · CORPORATE IDENTITY · 2026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51ED2E-BDBA-474B-8F15-DAE909DA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A80"/>
                </a:solidFill>
              </a:defRPr>
            </a:pPr>
            <a:r>
              <a:rPr sz="825" b="0">
                <a:solidFill>
                  <a:srgbClr val="526A80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0068073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D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67F6C1-B1D1-43EE-99CD-DD2CC7EE7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FB0FF"/>
                </a:solidFill>
              </a:defRPr>
            </a:pPr>
            <a:r>
              <a:rPr sz="975" b="1">
                <a:solidFill>
                  <a:srgbClr val="8FB0FF"/>
                </a:solidFill>
              </a:rPr>
              <a:t>TYPOGRAPHY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FA4F65-1B05-4EE7-B8B0-09E2B27CA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952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Readable first. Technical where it matters.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E5B513-17A8-4F13-8011-A0E8BB609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933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8D7E5"/>
                </a:solidFill>
              </a:defRPr>
            </a:pPr>
            <a:r>
              <a:rPr sz="1350" b="0">
                <a:solidFill>
                  <a:srgbClr val="C8D7E5"/>
                </a:solidFill>
              </a:rPr>
              <a:t>Manrope carries interface and brand voice. DM Mono identifies equipment, equations, units, versions, and coordinates.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EC20DE-2983-4AEF-8BBE-2B06ED826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495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rPr sz="3900" b="1">
                <a:solidFill>
                  <a:srgbClr val="FFFFFF"/>
                </a:solidFill>
              </a:rPr>
              <a:t>Manrope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93C195-41A2-4A3B-8CB4-BFA8E1945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953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C8D7E5"/>
                </a:solidFill>
              </a:defRPr>
            </a:pPr>
            <a:r>
              <a:rPr sz="1650" b="0">
                <a:solidFill>
                  <a:srgbClr val="C8D7E5"/>
                </a:solidFill>
              </a:rPr>
              <a:t>Process design remains legible at operational density.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90E5CC-7AAB-4194-A501-B249F8937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38450"/>
            <a:ext cx="409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8FB0FF"/>
                </a:solidFill>
              </a:defRPr>
            </a:pPr>
            <a:r>
              <a:rPr sz="2100" b="1">
                <a:solidFill>
                  <a:srgbClr val="8FB0FF"/>
                </a:solidFill>
              </a:rPr>
              <a:t>DM MONO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4F09BF-051C-466D-8692-98E5C3330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62350"/>
            <a:ext cx="4476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BR-201 · OTR 1.21 kg/h</a:t>
            </a:r>
          </a:p>
          <a:p xmlns:a="http://schemas.openxmlformats.org/drawingml/2006/main">
            <a:pPr algn="l">
              <a:defRPr sz="1425" b="0">
                <a:solidFill>
                  <a:srgbClr val="FFFFFF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Xᵥ + C₆H₁₂O₆ + O₂ → biomass + CO₂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93B396-E894-4F16-A608-9C51CA94D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AFC2D4"/>
                </a:solidFill>
              </a:defRPr>
            </a:pPr>
            <a:r>
              <a:rPr sz="825" b="0">
                <a:solidFill>
                  <a:srgbClr val="AFC2D4"/>
                </a:solidFill>
              </a:rPr>
              <a:t>AXION PROCESS OS · CORPORATE IDENTITY · 2026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DF7AFC-C59F-4F1F-A65E-E9528D5E7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AFC2D4"/>
                </a:solidFill>
              </a:defRPr>
            </a:pPr>
            <a:r>
              <a:rPr sz="825" b="0">
                <a:solidFill>
                  <a:srgbClr val="AFC2D4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4735710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EEF3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F16653-DC20-426A-B1FD-1CBC0B4FC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16BFF"/>
                </a:solidFill>
              </a:defRPr>
            </a:pPr>
            <a:r>
              <a:rPr sz="975" b="1">
                <a:solidFill>
                  <a:srgbClr val="316BFF"/>
                </a:solidFill>
              </a:rPr>
              <a:t>PRODUCT INTERFACE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C9B1E4-6A1A-4D99-9883-0EDF37B8D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952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73D"/>
                </a:solidFill>
              </a:defRPr>
            </a:pPr>
            <a:r>
              <a:rPr sz="2850" b="1">
                <a:solidFill>
                  <a:srgbClr val="10273D"/>
                </a:solidFill>
              </a:rPr>
              <a:t>One visual language from model to decision.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EB17E4-E91C-4538-BD55-0A42DBA36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933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A80"/>
                </a:solidFill>
              </a:defRPr>
            </a:pPr>
            <a:r>
              <a:rPr sz="1350" b="0">
                <a:solidFill>
                  <a:srgbClr val="526A80"/>
                </a:solidFill>
              </a:rPr>
              <a:t>Navy anchors navigation, cobalt identifies action, and neutral surfaces keep dense engineering information readable.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2cc17526ab4e8a"/>
          <a:srcRect xmlns:a="http://schemas.openxmlformats.org/drawingml/2006/main" l="0" t="20062" r="0" b="200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2324100"/>
            <a:ext cx="10972800" cy="3695700"/>
          </a:xfrm>
          <a:prstGeom xmlns:a="http://schemas.openxmlformats.org/drawingml/2006/main" prst="roundRect">
            <a:avLst>
              <a:gd name="adj" fmla="val 4124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24744E-E810-46C8-9ED7-C1A7231AB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A80"/>
                </a:solidFill>
              </a:defRPr>
            </a:pPr>
            <a:r>
              <a:rPr sz="825" b="0">
                <a:solidFill>
                  <a:srgbClr val="526A80"/>
                </a:solidFill>
              </a:rPr>
              <a:t>AXION PROCESS OS · CORPORATE IDENTITY ·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B3E11B-9A94-467C-B4EA-F59BBBCC7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A80"/>
                </a:solidFill>
              </a:defRPr>
            </a:pPr>
            <a:r>
              <a:rPr sz="825" b="0">
                <a:solidFill>
                  <a:srgbClr val="526A80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283122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499A88-06CD-4109-918A-27EAB648C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16BFF"/>
                </a:solidFill>
              </a:defRPr>
            </a:pPr>
            <a:r>
              <a:rPr sz="975" b="1">
                <a:solidFill>
                  <a:srgbClr val="316BFF"/>
                </a:solidFill>
              </a:rPr>
              <a:t>DECISION OUTPUTS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44EF39-BAC9-49DD-9B01-0E0DFAF19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952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73D"/>
                </a:solidFill>
              </a:defRPr>
            </a:pPr>
            <a:r>
              <a:rPr sz="2850" b="1">
                <a:solidFill>
                  <a:srgbClr val="10273D"/>
                </a:solidFill>
              </a:rPr>
              <a:t>Evidence remains legible across disciplines.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15F761-54C7-42CD-87DC-99945EDAB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933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A80"/>
                </a:solidFill>
              </a:defRPr>
            </a:pPr>
            <a:r>
              <a:rPr sz="1350" b="0">
                <a:solidFill>
                  <a:srgbClr val="526A80"/>
                </a:solidFill>
              </a:rPr>
              <a:t>Process architecture, readiness, TEA, and LCA use the same hierarchy and semantic color system.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5d7ae5a1e54781"/>
          <a:srcRect xmlns:a="http://schemas.openxmlformats.org/drawingml/2006/main" l="5196" t="0" r="519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2343150"/>
            <a:ext cx="5219700" cy="3276600"/>
          </a:xfrm>
          <a:prstGeom xmlns:a="http://schemas.openxmlformats.org/drawingml/2006/main" prst="roundRect">
            <a:avLst>
              <a:gd name="adj" fmla="val 4651"/>
            </a:avLst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a7208cce814224"/>
          <a:srcRect xmlns:a="http://schemas.openxmlformats.org/drawingml/2006/main" l="3234" t="0" r="323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34100" y="2343150"/>
            <a:ext cx="5448300" cy="3276600"/>
          </a:xfrm>
          <a:prstGeom xmlns:a="http://schemas.openxmlformats.org/drawingml/2006/main" prst="roundRect">
            <a:avLst>
              <a:gd name="adj" fmla="val 4651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4D5B65-CB64-4DFC-A5F1-CC6DF0426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26A80"/>
                </a:solidFill>
              </a:defRPr>
            </a:pPr>
            <a:r>
              <a:rPr sz="900" b="1">
                <a:solidFill>
                  <a:srgbClr val="526A80"/>
                </a:solidFill>
              </a:rPr>
              <a:t>PLANT OVERVIEW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7D0FAD-5BCB-4694-A8C2-0A1F70ECF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7912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26A80"/>
                </a:solidFill>
              </a:defRPr>
            </a:pPr>
            <a:r>
              <a:rPr sz="900" b="1">
                <a:solidFill>
                  <a:srgbClr val="526A80"/>
                </a:solidFill>
              </a:rPr>
              <a:t>TEA + LCA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72A5FB-CA90-4582-A06D-9B9CF7E50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A80"/>
                </a:solidFill>
              </a:defRPr>
            </a:pPr>
            <a:r>
              <a:rPr sz="825" b="0">
                <a:solidFill>
                  <a:srgbClr val="526A80"/>
                </a:solidFill>
              </a:rPr>
              <a:t>AXION PROCESS OS · CORPORATE IDENTITY · 2026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1D6D07-503C-4448-8E9F-ED24B4EE7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A80"/>
                </a:solidFill>
              </a:defRPr>
            </a:pPr>
            <a:r>
              <a:rPr sz="825" b="0">
                <a:solidFill>
                  <a:srgbClr val="526A80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5046132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EF3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7B24BB-4AF0-4B3A-9364-ADFFC3D11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16BFF"/>
                </a:solidFill>
              </a:defRPr>
            </a:pPr>
            <a:r>
              <a:rPr sz="975" b="1">
                <a:solidFill>
                  <a:srgbClr val="316BFF"/>
                </a:solidFill>
              </a:rPr>
              <a:t>RELEASE STANDARD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3EC898-B98A-4B59-86A4-31F518B7E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952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273D"/>
                </a:solidFill>
              </a:defRPr>
            </a:pPr>
            <a:r>
              <a:rPr sz="2850" b="1">
                <a:solidFill>
                  <a:srgbClr val="10273D"/>
                </a:solidFill>
              </a:rPr>
              <a:t>Every Axion surface must pass the same checks.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817F22-00BB-42DC-A325-3CA8EA21A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933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A80"/>
                </a:solidFill>
              </a:defRPr>
            </a:pPr>
            <a:r>
              <a:rPr sz="1350" b="0">
                <a:solidFill>
                  <a:srgbClr val="526A80"/>
                </a:solidFill>
              </a:rPr>
              <a:t>The identity is complete only when it remains readable, responsive, traceable, and consistent in the working product.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02AE39-7397-4173-B299-CBC8AC910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16BFF"/>
                </a:solidFill>
              </a:defRPr>
            </a:pPr>
            <a:r>
              <a:rPr sz="1050" b="1">
                <a:solidFill>
                  <a:srgbClr val="316BFF"/>
                </a:solidFill>
              </a:rPr>
              <a:t>CONTRAST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5E8981-5CF2-4D7A-A42B-01075E2AD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400300"/>
            <a:ext cx="323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273D"/>
                </a:solidFill>
              </a:defRPr>
            </a:pPr>
            <a:r>
              <a:rPr sz="1425" b="1">
                <a:solidFill>
                  <a:srgbClr val="10273D"/>
                </a:solidFill>
              </a:rPr>
              <a:t>WCAG AA for body text and controls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EC550C-ED2A-459C-B5E1-AF2819D5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4193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16BFF"/>
                </a:solidFill>
              </a:defRPr>
            </a:pPr>
            <a:r>
              <a:rPr sz="1050" b="1">
                <a:solidFill>
                  <a:srgbClr val="316BFF"/>
                </a:solidFill>
              </a:rPr>
              <a:t>SEMANTICS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6A77EF-5AE6-47C7-A9C9-B3954C06E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00300"/>
            <a:ext cx="323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273D"/>
                </a:solidFill>
              </a:defRPr>
            </a:pPr>
            <a:r>
              <a:rPr sz="1425" b="1">
                <a:solidFill>
                  <a:srgbClr val="10273D"/>
                </a:solidFill>
              </a:rPr>
              <a:t>Color is paired with text, icon, or value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7EA40F-2998-4DFC-8AB5-A4F72827D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16BFF"/>
                </a:solidFill>
              </a:defRPr>
            </a:pPr>
            <a:r>
              <a:rPr sz="1050" b="1">
                <a:solidFill>
                  <a:srgbClr val="316BFF"/>
                </a:solidFill>
              </a:rPr>
              <a:t>MOTION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ADCFFC-6A2F-4911-A793-93213F3C6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467100"/>
            <a:ext cx="323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273D"/>
                </a:solidFill>
              </a:defRPr>
            </a:pPr>
            <a:r>
              <a:rPr sz="1425" b="1">
                <a:solidFill>
                  <a:srgbClr val="10273D"/>
                </a:solidFill>
              </a:rPr>
              <a:t>Reduced-motion preserves meaning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903CFD-DD54-4908-9F81-0EE5795B9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4861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16BFF"/>
                </a:solidFill>
              </a:defRPr>
            </a:pPr>
            <a:r>
              <a:rPr sz="1050" b="1">
                <a:solidFill>
                  <a:srgbClr val="316BFF"/>
                </a:solidFill>
              </a:rPr>
              <a:t>LAYOUT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8402A6-F173-407A-8670-46178F2B8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467100"/>
            <a:ext cx="323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273D"/>
                </a:solidFill>
              </a:defRPr>
            </a:pPr>
            <a:r>
              <a:rPr sz="1425" b="1">
                <a:solidFill>
                  <a:srgbClr val="10273D"/>
                </a:solidFill>
              </a:rPr>
              <a:t>No overlap at desktop or mobile widths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945725-EA70-4D33-A015-7F18FB095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16BFF"/>
                </a:solidFill>
              </a:defRPr>
            </a:pPr>
            <a:r>
              <a:rPr sz="1050" b="1">
                <a:solidFill>
                  <a:srgbClr val="316BFF"/>
                </a:solidFill>
              </a:rPr>
              <a:t>PROVENANCE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B4AF5C-87C7-43CC-BC54-54E098C7C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533900"/>
            <a:ext cx="323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273D"/>
                </a:solidFill>
              </a:defRPr>
            </a:pPr>
            <a:r>
              <a:rPr sz="1425" b="1">
                <a:solidFill>
                  <a:srgbClr val="10273D"/>
                </a:solidFill>
              </a:rPr>
              <a:t>Model, version, date, and source remain visible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AEA344-5235-41BD-A15C-21AB464B9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5529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16BFF"/>
                </a:solidFill>
              </a:defRPr>
            </a:pPr>
            <a:r>
              <a:rPr sz="1050" b="1">
                <a:solidFill>
                  <a:srgbClr val="316BFF"/>
                </a:solidFill>
              </a:rPr>
              <a:t>EXPORT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A14DC8-CA0D-40F6-9A03-E0D9527F6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33900"/>
            <a:ext cx="323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0273D"/>
                </a:solidFill>
              </a:defRPr>
            </a:pPr>
            <a:r>
              <a:rPr sz="1425" b="1">
                <a:solidFill>
                  <a:srgbClr val="10273D"/>
                </a:solidFill>
              </a:rPr>
              <a:t>PPT, SVG, reports, and screenshots use this system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2DAEC7-CBA9-404F-887C-E8B981211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071D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E2D2FA-DB3A-446D-AE04-137171379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72150"/>
            <a:ext cx="10553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AXION PROCESS OS · BIOPROCESS ENGINEERING, CONNECTED.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343F71-9183-4677-A4CA-824A40E4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590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A80"/>
                </a:solidFill>
              </a:defRPr>
            </a:pPr>
            <a:r>
              <a:rPr sz="825" b="0">
                <a:solidFill>
                  <a:srgbClr val="526A80"/>
                </a:solidFill>
              </a:rPr>
              <a:t>AXION PROCESS OS · CORPORATE IDENTITY · 2026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6035FA-085C-4B5E-8A94-EB5DDFB18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26A80"/>
                </a:solidFill>
              </a:defRPr>
            </a:pPr>
            <a:r>
              <a:rPr sz="825" b="0">
                <a:solidFill>
                  <a:srgbClr val="526A80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511552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2026-08-06T08:38:58.8660000Z</dcterms:created>
  <dcterms:modified xsi:type="dcterms:W3CDTF">2026-08-06T08:38:58.8660000Z</dcterms:modified>
</coreProperties>
</file>